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49" r:id="rId2"/>
  </p:sldMasterIdLst>
  <p:notesMasterIdLst>
    <p:notesMasterId r:id="rId19"/>
  </p:notesMasterIdLst>
  <p:sldIdLst>
    <p:sldId id="257" r:id="rId3"/>
    <p:sldId id="258" r:id="rId4"/>
    <p:sldId id="259" r:id="rId5"/>
    <p:sldId id="260" r:id="rId6"/>
    <p:sldId id="261" r:id="rId7"/>
    <p:sldId id="263" r:id="rId8"/>
    <p:sldId id="273" r:id="rId9"/>
    <p:sldId id="262" r:id="rId10"/>
    <p:sldId id="264" r:id="rId11"/>
    <p:sldId id="265" r:id="rId12"/>
    <p:sldId id="266" r:id="rId13"/>
    <p:sldId id="268" r:id="rId14"/>
    <p:sldId id="269" r:id="rId15"/>
    <p:sldId id="270" r:id="rId16"/>
    <p:sldId id="271" r:id="rId17"/>
    <p:sldId id="272"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008000"/>
    <a:srgbClr val="33CC33"/>
    <a:srgbClr val="F86308"/>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26" autoAdjust="0"/>
    <p:restoredTop sz="94660"/>
  </p:normalViewPr>
  <p:slideViewPr>
    <p:cSldViewPr>
      <p:cViewPr varScale="1">
        <p:scale>
          <a:sx n="105" d="100"/>
          <a:sy n="105" d="100"/>
        </p:scale>
        <p:origin x="1836" y="9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98"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799"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EE16272-617E-4DAF-98A7-1E249FC6E62B}" type="datetimeFigureOut">
              <a:rPr lang="en-US" smtClean="0"/>
              <a:t>7/20/2025</a:t>
            </a:fld>
            <a:endParaRPr lang="en-US"/>
          </a:p>
        </p:txBody>
      </p:sp>
      <p:sp>
        <p:nvSpPr>
          <p:cNvPr id="1048800"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801"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2"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803"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C3306E6-DC10-44A3-83DD-EDA3C03FF55B}" type="slidenum">
              <a:rPr lang="en-US" smtClean="0"/>
              <a:t>‹#›</a:t>
            </a:fld>
            <a:endParaRPr lang="en-US"/>
          </a:p>
        </p:txBody>
      </p:sp>
    </p:spTree>
    <p:extLst>
      <p:ext uri="{BB962C8B-B14F-4D97-AF65-F5344CB8AC3E}">
        <p14:creationId xmlns:p14="http://schemas.microsoft.com/office/powerpoint/2010/main" val="1076928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2" name="Slide Image Placeholder 1"/>
          <p:cNvSpPr>
            <a:spLocks noGrp="1" noRot="1" noChangeAspect="1"/>
          </p:cNvSpPr>
          <p:nvPr>
            <p:ph type="sldImg"/>
          </p:nvPr>
        </p:nvSpPr>
        <p:spPr/>
      </p:sp>
      <p:sp>
        <p:nvSpPr>
          <p:cNvPr id="1048643" name="Notes Placeholder 2"/>
          <p:cNvSpPr>
            <a:spLocks noGrp="1"/>
          </p:cNvSpPr>
          <p:nvPr>
            <p:ph type="body" idx="1"/>
          </p:nvPr>
        </p:nvSpPr>
        <p:spPr/>
        <p:txBody>
          <a:bodyPr/>
          <a:lstStyle/>
          <a:p>
            <a:endParaRPr lang="en-US" dirty="0"/>
          </a:p>
        </p:txBody>
      </p:sp>
      <p:sp>
        <p:nvSpPr>
          <p:cNvPr id="1048644" name="Slide Number Placeholder 3"/>
          <p:cNvSpPr>
            <a:spLocks noGrp="1"/>
          </p:cNvSpPr>
          <p:nvPr>
            <p:ph type="sldNum" sz="quarter" idx="5"/>
          </p:nvPr>
        </p:nvSpPr>
        <p:spPr/>
        <p:txBody>
          <a:bodyPr/>
          <a:lstStyle/>
          <a:p>
            <a:fld id="{3C3306E6-DC10-44A3-83DD-EDA3C03FF55B}" type="slidenum">
              <a:rPr lang="en-US" smtClean="0"/>
              <a:t>10</a:t>
            </a:fld>
            <a:endParaRPr lang="en-US"/>
          </a:p>
        </p:txBody>
      </p:sp>
    </p:spTree>
    <p:extLst>
      <p:ext uri="{BB962C8B-B14F-4D97-AF65-F5344CB8AC3E}">
        <p14:creationId xmlns:p14="http://schemas.microsoft.com/office/powerpoint/2010/main" val="10229823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96" name="Title 1"/>
          <p:cNvSpPr>
            <a:spLocks noGrp="1"/>
          </p:cNvSpPr>
          <p:nvPr>
            <p:ph type="title"/>
          </p:nvPr>
        </p:nvSpPr>
        <p:spPr>
          <a:xfrm>
            <a:off x="612648" y="228600"/>
            <a:ext cx="7616952" cy="990600"/>
          </a:xfrm>
        </p:spPr>
        <p:txBody>
          <a:bodyPr/>
          <a:lstStyle/>
          <a:p>
            <a:r>
              <a:rPr kumimoji="0" lang="en-US"/>
              <a:t>Click to edit Master title style</a:t>
            </a:r>
          </a:p>
        </p:txBody>
      </p:sp>
      <p:sp>
        <p:nvSpPr>
          <p:cNvPr id="1048597" name="Date Placeholder 3"/>
          <p:cNvSpPr>
            <a:spLocks noGrp="1"/>
          </p:cNvSpPr>
          <p:nvPr>
            <p:ph type="dt" sz="half" idx="10"/>
          </p:nvPr>
        </p:nvSpPr>
        <p:spPr>
          <a:xfrm>
            <a:off x="6248400" y="6400800"/>
            <a:ext cx="2514600" cy="304800"/>
          </a:xfrm>
          <a:solidFill>
            <a:srgbClr val="008000"/>
          </a:solidFill>
        </p:spPr>
        <p:txBody>
          <a:bodyPr/>
          <a:lstStyle>
            <a:lvl1pPr algn="r">
              <a:defRPr b="0">
                <a:solidFill>
                  <a:schemeClr val="bg1"/>
                </a:solidFill>
              </a:defRPr>
            </a:lvl1pPr>
          </a:lstStyle>
          <a:p>
            <a:r>
              <a:rPr lang="en-US"/>
              <a:t>CS-FYP    Hamdard University </a:t>
            </a:r>
            <a:endParaRPr lang="en-US" dirty="0"/>
          </a:p>
        </p:txBody>
      </p:sp>
      <p:sp>
        <p:nvSpPr>
          <p:cNvPr id="1048598" name="Footer Placeholder 4"/>
          <p:cNvSpPr>
            <a:spLocks noGrp="1"/>
          </p:cNvSpPr>
          <p:nvPr>
            <p:ph type="ftr" sz="quarter" idx="11"/>
          </p:nvPr>
        </p:nvSpPr>
        <p:spPr>
          <a:xfrm>
            <a:off x="609601" y="6400800"/>
            <a:ext cx="5410200" cy="288925"/>
          </a:xfrm>
          <a:solidFill>
            <a:srgbClr val="F86308"/>
          </a:solidFill>
        </p:spPr>
        <p:txBody>
          <a:bodyPr/>
          <a:lstStyle>
            <a:lvl1pPr algn="l">
              <a:defRPr b="0">
                <a:solidFill>
                  <a:schemeClr val="bg1"/>
                </a:solidFill>
              </a:defRPr>
            </a:lvl1pPr>
          </a:lstStyle>
          <a:p>
            <a:r>
              <a:rPr lang="en-US"/>
              <a:t>Project Name Here</a:t>
            </a:r>
            <a:endParaRPr lang="en-US" dirty="0"/>
          </a:p>
        </p:txBody>
      </p:sp>
      <p:sp>
        <p:nvSpPr>
          <p:cNvPr id="1048599" name="Slide Number Placeholder 5"/>
          <p:cNvSpPr>
            <a:spLocks noGrp="1"/>
          </p:cNvSpPr>
          <p:nvPr>
            <p:ph type="sldNum" sz="quarter" idx="12"/>
          </p:nvPr>
        </p:nvSpPr>
        <p:spPr>
          <a:xfrm>
            <a:off x="0" y="1279524"/>
            <a:ext cx="533400" cy="244476"/>
          </a:xfrm>
          <a:solidFill>
            <a:srgbClr val="008000"/>
          </a:solidFill>
        </p:spPr>
        <p:txBody>
          <a:bodyPr>
            <a:noAutofit/>
          </a:bodyPr>
          <a:lstStyle>
            <a:lvl1pPr>
              <a:defRPr sz="1800" b="1">
                <a:solidFill>
                  <a:srgbClr val="FFFFFF"/>
                </a:solidFill>
              </a:defRPr>
            </a:lvl1pPr>
          </a:lstStyle>
          <a:p>
            <a:fld id="{9EBC64C3-3FC7-4C40-910B-2643F037F02C}" type="slidenum">
              <a:rPr lang="en-US" smtClean="0"/>
              <a:t>‹#›</a:t>
            </a:fld>
            <a:endParaRPr lang="en-US" dirty="0"/>
          </a:p>
        </p:txBody>
      </p:sp>
      <p:sp>
        <p:nvSpPr>
          <p:cNvPr id="1048600" name="Content Placeholder 7"/>
          <p:cNvSpPr>
            <a:spLocks noGrp="1"/>
          </p:cNvSpPr>
          <p:nvPr>
            <p:ph sz="quarter" idx="1"/>
          </p:nvPr>
        </p:nvSpPr>
        <p:spPr>
          <a:xfrm>
            <a:off x="612648" y="1600200"/>
            <a:ext cx="8153400" cy="4495800"/>
          </a:xfrm>
        </p:spPr>
        <p:txBody>
          <a:bodyPr/>
          <a:lstStyle>
            <a:lvl1pPr>
              <a:buClr>
                <a:srgbClr val="008000"/>
              </a:buCl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pic>
        <p:nvPicPr>
          <p:cNvPr id="2097154" name="Picture 2"/>
          <p:cNvPicPr>
            <a:picLocks noChangeAspect="1"/>
          </p:cNvPicPr>
          <p:nvPr userDrawn="1"/>
        </p:nvPicPr>
        <p:blipFill>
          <a:blip r:embed="rId2" cstate="print"/>
          <a:stretch>
            <a:fillRect/>
          </a:stretch>
        </p:blipFill>
        <p:spPr>
          <a:xfrm>
            <a:off x="8305800" y="381000"/>
            <a:ext cx="732241" cy="638664"/>
          </a:xfrm>
          <a:prstGeom prst="rect">
            <a:avLst/>
          </a:prstGeom>
        </p:spPr>
      </p:pic>
      <p:sp>
        <p:nvSpPr>
          <p:cNvPr id="1048601" name="Rectangle 6"/>
          <p:cNvSpPr/>
          <p:nvPr userDrawn="1"/>
        </p:nvSpPr>
        <p:spPr>
          <a:xfrm>
            <a:off x="609600" y="1295400"/>
            <a:ext cx="8534400" cy="228600"/>
          </a:xfrm>
          <a:prstGeom prst="rect">
            <a:avLst/>
          </a:prstGeom>
          <a:solidFill>
            <a:srgbClr val="F86308"/>
          </a:solidFill>
          <a:ln>
            <a:solidFill>
              <a:srgbClr val="F8630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048687" name="Text Placeholder 2"/>
          <p:cNvSpPr>
            <a:spLocks noGrp="1"/>
          </p:cNvSpPr>
          <p:nvPr>
            <p:ph type="body" idx="1"/>
          </p:nvPr>
        </p:nvSpPr>
        <p:spPr>
          <a:xfrm>
            <a:off x="1752599" y="2743200"/>
            <a:ext cx="6742113" cy="1676400"/>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048688"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689" name="Rectangle 7"/>
          <p:cNvSpPr/>
          <p:nvPr/>
        </p:nvSpPr>
        <p:spPr>
          <a:xfrm>
            <a:off x="0" y="1600200"/>
            <a:ext cx="1295400" cy="990600"/>
          </a:xfrm>
          <a:prstGeom prst="rect">
            <a:avLst/>
          </a:prstGeom>
          <a:solidFill>
            <a:srgbClr val="008000"/>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690" name="Rectangle 8"/>
          <p:cNvSpPr/>
          <p:nvPr/>
        </p:nvSpPr>
        <p:spPr>
          <a:xfrm>
            <a:off x="1371600" y="1600200"/>
            <a:ext cx="7772400" cy="990600"/>
          </a:xfrm>
          <a:prstGeom prst="rect">
            <a:avLst/>
          </a:prstGeom>
          <a:solidFill>
            <a:srgbClr val="F86308"/>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691"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048692" name="Date Placeholder 11"/>
          <p:cNvSpPr>
            <a:spLocks noGrp="1"/>
          </p:cNvSpPr>
          <p:nvPr>
            <p:ph type="dt" sz="half" idx="10"/>
          </p:nvPr>
        </p:nvSpPr>
        <p:spPr>
          <a:solidFill>
            <a:srgbClr val="008000"/>
          </a:solidFill>
        </p:spPr>
        <p:txBody>
          <a:bodyPr/>
          <a:lstStyle>
            <a:lvl1pPr algn="r">
              <a:defRPr>
                <a:solidFill>
                  <a:schemeClr val="bg1"/>
                </a:solidFill>
              </a:defRPr>
            </a:lvl1pPr>
          </a:lstStyle>
          <a:p>
            <a:r>
              <a:rPr lang="en-US"/>
              <a:t>CS-FYP    Hamdard University </a:t>
            </a:r>
            <a:endParaRPr lang="en-US" dirty="0"/>
          </a:p>
        </p:txBody>
      </p:sp>
      <p:sp>
        <p:nvSpPr>
          <p:cNvPr id="104869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9EBC64C3-3FC7-4C40-910B-2643F037F02C}" type="slidenum">
              <a:rPr lang="en-US" smtClean="0"/>
              <a:t>‹#›</a:t>
            </a:fld>
            <a:endParaRPr lang="en-US" dirty="0"/>
          </a:p>
        </p:txBody>
      </p:sp>
      <p:sp>
        <p:nvSpPr>
          <p:cNvPr id="1048694" name="Footer Placeholder 13"/>
          <p:cNvSpPr>
            <a:spLocks noGrp="1"/>
          </p:cNvSpPr>
          <p:nvPr>
            <p:ph type="ftr" sz="quarter" idx="12"/>
          </p:nvPr>
        </p:nvSpPr>
        <p:spPr>
          <a:solidFill>
            <a:srgbClr val="F86308"/>
          </a:solidFill>
        </p:spPr>
        <p:txBody>
          <a:bodyPr/>
          <a:lstStyle>
            <a:lvl1pPr algn="l">
              <a:defRPr>
                <a:solidFill>
                  <a:schemeClr val="bg1"/>
                </a:solidFill>
              </a:defRPr>
            </a:lvl1pPr>
          </a:lstStyle>
          <a:p>
            <a:r>
              <a:rPr lang="en-US"/>
              <a:t>Project Name Here</a:t>
            </a:r>
            <a:endParaRPr lang="en-US" dirty="0"/>
          </a:p>
        </p:txBody>
      </p:sp>
      <p:pic>
        <p:nvPicPr>
          <p:cNvPr id="2097158" name="Picture 3"/>
          <p:cNvPicPr>
            <a:picLocks noChangeAspect="1"/>
          </p:cNvPicPr>
          <p:nvPr userDrawn="1"/>
        </p:nvPicPr>
        <p:blipFill>
          <a:blip r:embed="rId2" cstate="print"/>
          <a:stretch>
            <a:fillRect/>
          </a:stretch>
        </p:blipFill>
        <p:spPr>
          <a:xfrm>
            <a:off x="228601" y="3899346"/>
            <a:ext cx="1295400" cy="1129854"/>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10" name="Title 1"/>
          <p:cNvSpPr>
            <a:spLocks noGrp="1"/>
          </p:cNvSpPr>
          <p:nvPr>
            <p:ph type="title"/>
          </p:nvPr>
        </p:nvSpPr>
        <p:spPr/>
        <p:txBody>
          <a:bodyPr/>
          <a:lstStyle/>
          <a:p>
            <a:r>
              <a:rPr kumimoji="0" lang="en-US"/>
              <a:t>Click to edit Master title style</a:t>
            </a:r>
          </a:p>
        </p:txBody>
      </p:sp>
      <p:sp>
        <p:nvSpPr>
          <p:cNvPr id="1048711"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712"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713" name="Slide Number Placeholder 9"/>
          <p:cNvSpPr>
            <a:spLocks noGrp="1"/>
          </p:cNvSpPr>
          <p:nvPr>
            <p:ph type="sldNum" sz="quarter" idx="16"/>
          </p:nvPr>
        </p:nvSpPr>
        <p:spPr/>
        <p:txBody>
          <a:bodyPr rtlCol="0"/>
          <a:lstStyle/>
          <a:p>
            <a:fld id="{9EBC64C3-3FC7-4C40-910B-2643F037F02C}" type="slidenum">
              <a:rPr lang="en-US" smtClean="0"/>
              <a:t>‹#›</a:t>
            </a:fld>
            <a:endParaRPr lang="en-US"/>
          </a:p>
        </p:txBody>
      </p:sp>
      <p:sp>
        <p:nvSpPr>
          <p:cNvPr id="1048714" name="Footer Placeholder 13"/>
          <p:cNvSpPr txBox="1"/>
          <p:nvPr userDrawn="1"/>
        </p:nvSpPr>
        <p:spPr>
          <a:xfrm>
            <a:off x="609600" y="6400606"/>
            <a:ext cx="5421083" cy="365125"/>
          </a:xfrm>
          <a:prstGeom prst="rect">
            <a:avLst/>
          </a:prstGeom>
          <a:solidFill>
            <a:srgbClr val="F86308"/>
          </a:solidFill>
        </p:spPr>
        <p:txBody>
          <a:bodyPr vert="horz" anchor="ctr"/>
          <a:lstStyle>
            <a:defPPr>
              <a:defRPr lang="en-US"/>
            </a:defPPr>
            <a:lvl1pPr marL="0" algn="l" defTabSz="914400" rtl="0" eaLnBrk="1" latinLnBrk="0" hangingPunct="1">
              <a:defRPr kumimoji="0" sz="14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Project name here</a:t>
            </a:r>
            <a:endParaRPr lang="en-US" dirty="0"/>
          </a:p>
        </p:txBody>
      </p:sp>
      <p:sp>
        <p:nvSpPr>
          <p:cNvPr id="1048715" name="Date Placeholder 11"/>
          <p:cNvSpPr>
            <a:spLocks noGrp="1"/>
          </p:cNvSpPr>
          <p:nvPr>
            <p:ph type="dt" sz="half" idx="10"/>
          </p:nvPr>
        </p:nvSpPr>
        <p:spPr>
          <a:xfrm>
            <a:off x="6096000" y="6416675"/>
            <a:ext cx="2667000" cy="365125"/>
          </a:xfrm>
          <a:solidFill>
            <a:srgbClr val="008000"/>
          </a:solidFill>
        </p:spPr>
        <p:txBody>
          <a:bodyPr/>
          <a:lstStyle>
            <a:lvl1pPr algn="r">
              <a:defRPr>
                <a:solidFill>
                  <a:schemeClr val="bg1"/>
                </a:solidFill>
              </a:defRPr>
            </a:lvl1pPr>
          </a:lstStyle>
          <a:p>
            <a:r>
              <a:rPr lang="en-US"/>
              <a:t>CS-FYP    Hamdard University </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79" name="Title 1"/>
          <p:cNvSpPr>
            <a:spLocks noGrp="1"/>
          </p:cNvSpPr>
          <p:nvPr>
            <p:ph type="title"/>
          </p:nvPr>
        </p:nvSpPr>
        <p:spPr>
          <a:xfrm>
            <a:off x="533400" y="273050"/>
            <a:ext cx="8153400" cy="869950"/>
          </a:xfrm>
        </p:spPr>
        <p:txBody>
          <a:bodyPr anchor="ctr"/>
          <a:lstStyle/>
          <a:p>
            <a:r>
              <a:rPr kumimoji="0" lang="en-US"/>
              <a:t>Click to edit Master title style</a:t>
            </a:r>
          </a:p>
        </p:txBody>
      </p:sp>
      <p:sp>
        <p:nvSpPr>
          <p:cNvPr id="1048680"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681"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682" name="Date Placeholder 9"/>
          <p:cNvSpPr>
            <a:spLocks noGrp="1"/>
          </p:cNvSpPr>
          <p:nvPr>
            <p:ph type="dt" sz="half" idx="15"/>
          </p:nvPr>
        </p:nvSpPr>
        <p:spPr/>
        <p:txBody>
          <a:bodyPr rtlCol="0"/>
          <a:lstStyle/>
          <a:p>
            <a:r>
              <a:rPr lang="en-US"/>
              <a:t>CS-FYP    Hamdard University </a:t>
            </a:r>
          </a:p>
        </p:txBody>
      </p:sp>
      <p:sp>
        <p:nvSpPr>
          <p:cNvPr id="1048683" name="Slide Number Placeholder 11"/>
          <p:cNvSpPr>
            <a:spLocks noGrp="1"/>
          </p:cNvSpPr>
          <p:nvPr>
            <p:ph type="sldNum" sz="quarter" idx="16"/>
          </p:nvPr>
        </p:nvSpPr>
        <p:spPr/>
        <p:txBody>
          <a:bodyPr rtlCol="0"/>
          <a:lstStyle/>
          <a:p>
            <a:fld id="{9EBC64C3-3FC7-4C40-910B-2643F037F02C}" type="slidenum">
              <a:rPr lang="en-US" smtClean="0"/>
              <a:t>‹#›</a:t>
            </a:fld>
            <a:endParaRPr lang="en-US"/>
          </a:p>
        </p:txBody>
      </p:sp>
      <p:sp>
        <p:nvSpPr>
          <p:cNvPr id="1048684" name="Footer Placeholder 13"/>
          <p:cNvSpPr>
            <a:spLocks noGrp="1"/>
          </p:cNvSpPr>
          <p:nvPr>
            <p:ph type="ftr" sz="quarter" idx="17"/>
          </p:nvPr>
        </p:nvSpPr>
        <p:spPr/>
        <p:txBody>
          <a:bodyPr rtlCol="0"/>
          <a:lstStyle/>
          <a:p>
            <a:r>
              <a:rPr lang="en-US"/>
              <a:t>Project Name Here</a:t>
            </a:r>
          </a:p>
        </p:txBody>
      </p:sp>
      <p:sp>
        <p:nvSpPr>
          <p:cNvPr id="1048685"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048686"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95" name="Title 1"/>
          <p:cNvSpPr>
            <a:spLocks noGrp="1"/>
          </p:cNvSpPr>
          <p:nvPr>
            <p:ph type="title"/>
          </p:nvPr>
        </p:nvSpPr>
        <p:spPr/>
        <p:txBody>
          <a:bodyPr/>
          <a:lstStyle/>
          <a:p>
            <a:r>
              <a:rPr kumimoji="0" lang="en-US"/>
              <a:t>Click to edit Master title style</a:t>
            </a:r>
          </a:p>
        </p:txBody>
      </p:sp>
      <p:sp>
        <p:nvSpPr>
          <p:cNvPr id="1048696" name="Date Placeholder 2"/>
          <p:cNvSpPr>
            <a:spLocks noGrp="1"/>
          </p:cNvSpPr>
          <p:nvPr>
            <p:ph type="dt" sz="half" idx="10"/>
          </p:nvPr>
        </p:nvSpPr>
        <p:spPr/>
        <p:txBody>
          <a:bodyPr/>
          <a:lstStyle/>
          <a:p>
            <a:r>
              <a:rPr lang="en-US"/>
              <a:t>CS-FYP    Hamdard University </a:t>
            </a:r>
          </a:p>
        </p:txBody>
      </p:sp>
      <p:sp>
        <p:nvSpPr>
          <p:cNvPr id="1048697" name="Footer Placeholder 3"/>
          <p:cNvSpPr>
            <a:spLocks noGrp="1"/>
          </p:cNvSpPr>
          <p:nvPr>
            <p:ph type="ftr" sz="quarter" idx="11"/>
          </p:nvPr>
        </p:nvSpPr>
        <p:spPr/>
        <p:txBody>
          <a:bodyPr/>
          <a:lstStyle/>
          <a:p>
            <a:r>
              <a:rPr lang="en-US"/>
              <a:t>Project Name Here</a:t>
            </a:r>
          </a:p>
        </p:txBody>
      </p:sp>
      <p:sp>
        <p:nvSpPr>
          <p:cNvPr id="1048698" name="Slide Number Placeholder 4"/>
          <p:cNvSpPr>
            <a:spLocks noGrp="1"/>
          </p:cNvSpPr>
          <p:nvPr>
            <p:ph type="sldNum" sz="quarter" idx="12"/>
          </p:nvPr>
        </p:nvSpPr>
        <p:spPr/>
        <p:txBody>
          <a:bodyPr/>
          <a:lstStyle>
            <a:lvl1pPr>
              <a:defRPr>
                <a:solidFill>
                  <a:srgbClr val="FFFFFF"/>
                </a:solidFill>
              </a:defRPr>
            </a:lvl1pPr>
          </a:lstStyle>
          <a:p>
            <a:fld id="{9EBC64C3-3FC7-4C40-910B-2643F037F02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48584" name="Date Placeholder 1"/>
          <p:cNvSpPr>
            <a:spLocks noGrp="1"/>
          </p:cNvSpPr>
          <p:nvPr>
            <p:ph type="dt" sz="half" idx="10"/>
          </p:nvPr>
        </p:nvSpPr>
        <p:spPr/>
        <p:txBody>
          <a:bodyPr/>
          <a:lstStyle/>
          <a:p>
            <a:r>
              <a:rPr lang="en-US"/>
              <a:t>CS-FYP    Hamdard University </a:t>
            </a:r>
          </a:p>
        </p:txBody>
      </p:sp>
      <p:sp>
        <p:nvSpPr>
          <p:cNvPr id="1048585" name="Footer Placeholder 2"/>
          <p:cNvSpPr>
            <a:spLocks noGrp="1"/>
          </p:cNvSpPr>
          <p:nvPr>
            <p:ph type="ftr" sz="quarter" idx="11"/>
          </p:nvPr>
        </p:nvSpPr>
        <p:spPr/>
        <p:txBody>
          <a:bodyPr/>
          <a:lstStyle/>
          <a:p>
            <a:r>
              <a:rPr lang="en-US"/>
              <a:t>Project Name Here</a:t>
            </a:r>
          </a:p>
        </p:txBody>
      </p:sp>
      <p:sp>
        <p:nvSpPr>
          <p:cNvPr id="1048586"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9EBC64C3-3FC7-4C40-910B-2643F037F02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99"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1048700" name="Date Placeholder 4"/>
          <p:cNvSpPr>
            <a:spLocks noGrp="1"/>
          </p:cNvSpPr>
          <p:nvPr>
            <p:ph type="dt" sz="half" idx="10"/>
          </p:nvPr>
        </p:nvSpPr>
        <p:spPr/>
        <p:txBody>
          <a:bodyPr/>
          <a:lstStyle/>
          <a:p>
            <a:r>
              <a:rPr lang="en-US"/>
              <a:t>CS-FYP    Hamdard University </a:t>
            </a:r>
          </a:p>
        </p:txBody>
      </p:sp>
      <p:sp>
        <p:nvSpPr>
          <p:cNvPr id="1048701" name="Footer Placeholder 5"/>
          <p:cNvSpPr>
            <a:spLocks noGrp="1"/>
          </p:cNvSpPr>
          <p:nvPr>
            <p:ph type="ftr" sz="quarter" idx="11"/>
          </p:nvPr>
        </p:nvSpPr>
        <p:spPr/>
        <p:txBody>
          <a:bodyPr/>
          <a:lstStyle/>
          <a:p>
            <a:r>
              <a:rPr lang="en-US"/>
              <a:t>Project Name Here</a:t>
            </a:r>
          </a:p>
        </p:txBody>
      </p:sp>
      <p:sp>
        <p:nvSpPr>
          <p:cNvPr id="1048702" name="Slide Number Placeholder 6"/>
          <p:cNvSpPr>
            <a:spLocks noGrp="1"/>
          </p:cNvSpPr>
          <p:nvPr>
            <p:ph type="sldNum" sz="quarter" idx="12"/>
          </p:nvPr>
        </p:nvSpPr>
        <p:spPr/>
        <p:txBody>
          <a:bodyPr/>
          <a:lstStyle>
            <a:lvl1pPr>
              <a:defRPr>
                <a:solidFill>
                  <a:srgbClr val="FFFFFF"/>
                </a:solidFill>
              </a:defRPr>
            </a:lvl1pPr>
          </a:lstStyle>
          <a:p>
            <a:fld id="{9EBC64C3-3FC7-4C40-910B-2643F037F02C}" type="slidenum">
              <a:rPr lang="en-US" smtClean="0"/>
              <a:t>‹#›</a:t>
            </a:fld>
            <a:endParaRPr lang="en-US"/>
          </a:p>
        </p:txBody>
      </p:sp>
      <p:sp>
        <p:nvSpPr>
          <p:cNvPr id="104870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1048704"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104872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1048725"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726"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727"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728"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048729"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730" name="Date Placeholder 11"/>
          <p:cNvSpPr>
            <a:spLocks noGrp="1"/>
          </p:cNvSpPr>
          <p:nvPr>
            <p:ph type="dt" sz="half" idx="10"/>
          </p:nvPr>
        </p:nvSpPr>
        <p:spPr>
          <a:xfrm>
            <a:off x="6248400" y="6248400"/>
            <a:ext cx="2667000" cy="365125"/>
          </a:xfrm>
        </p:spPr>
        <p:txBody>
          <a:bodyPr rtlCol="0"/>
          <a:lstStyle/>
          <a:p>
            <a:r>
              <a:rPr lang="en-US"/>
              <a:t>CS-FYP    Hamdard University </a:t>
            </a:r>
          </a:p>
        </p:txBody>
      </p:sp>
      <p:sp>
        <p:nvSpPr>
          <p:cNvPr id="1048731" name="Slide Number Placeholder 12"/>
          <p:cNvSpPr>
            <a:spLocks noGrp="1"/>
          </p:cNvSpPr>
          <p:nvPr>
            <p:ph type="sldNum" sz="quarter" idx="11"/>
          </p:nvPr>
        </p:nvSpPr>
        <p:spPr>
          <a:xfrm>
            <a:off x="0" y="4667249"/>
            <a:ext cx="1447800" cy="663578"/>
          </a:xfrm>
        </p:spPr>
        <p:txBody>
          <a:bodyPr rtlCol="0"/>
          <a:lstStyle>
            <a:lvl1pPr>
              <a:defRPr sz="2800"/>
            </a:lvl1pPr>
          </a:lstStyle>
          <a:p>
            <a:fld id="{9EBC64C3-3FC7-4C40-910B-2643F037F02C}" type="slidenum">
              <a:rPr lang="en-US" smtClean="0"/>
              <a:t>‹#›</a:t>
            </a:fld>
            <a:endParaRPr lang="en-US"/>
          </a:p>
        </p:txBody>
      </p:sp>
      <p:sp>
        <p:nvSpPr>
          <p:cNvPr id="1048732" name="Footer Placeholder 13"/>
          <p:cNvSpPr>
            <a:spLocks noGrp="1"/>
          </p:cNvSpPr>
          <p:nvPr>
            <p:ph type="ftr" sz="quarter" idx="12"/>
          </p:nvPr>
        </p:nvSpPr>
        <p:spPr>
          <a:xfrm>
            <a:off x="1600200" y="6248206"/>
            <a:ext cx="4572000" cy="365125"/>
          </a:xfrm>
        </p:spPr>
        <p:txBody>
          <a:bodyPr rtlCol="0"/>
          <a:lstStyle/>
          <a:p>
            <a:r>
              <a:rPr lang="en-US"/>
              <a:t>Project Name Here</a:t>
            </a:r>
          </a:p>
        </p:txBody>
      </p:sp>
      <p:sp>
        <p:nvSpPr>
          <p:cNvPr id="104873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05" name="Title 1"/>
          <p:cNvSpPr>
            <a:spLocks noGrp="1"/>
          </p:cNvSpPr>
          <p:nvPr>
            <p:ph type="title"/>
          </p:nvPr>
        </p:nvSpPr>
        <p:spPr/>
        <p:txBody>
          <a:bodyPr/>
          <a:lstStyle/>
          <a:p>
            <a:r>
              <a:rPr kumimoji="0" lang="en-US"/>
              <a:t>Click to edit Master title style</a:t>
            </a:r>
          </a:p>
        </p:txBody>
      </p:sp>
      <p:sp>
        <p:nvSpPr>
          <p:cNvPr id="1048706"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707" name="Date Placeholder 3"/>
          <p:cNvSpPr>
            <a:spLocks noGrp="1"/>
          </p:cNvSpPr>
          <p:nvPr>
            <p:ph type="dt" sz="half" idx="10"/>
          </p:nvPr>
        </p:nvSpPr>
        <p:spPr/>
        <p:txBody>
          <a:bodyPr/>
          <a:lstStyle/>
          <a:p>
            <a:r>
              <a:rPr lang="en-US"/>
              <a:t>CS-FYP    Hamdard University </a:t>
            </a:r>
          </a:p>
        </p:txBody>
      </p:sp>
      <p:sp>
        <p:nvSpPr>
          <p:cNvPr id="1048708" name="Footer Placeholder 4"/>
          <p:cNvSpPr>
            <a:spLocks noGrp="1"/>
          </p:cNvSpPr>
          <p:nvPr>
            <p:ph type="ftr" sz="quarter" idx="11"/>
          </p:nvPr>
        </p:nvSpPr>
        <p:spPr/>
        <p:txBody>
          <a:bodyPr/>
          <a:lstStyle/>
          <a:p>
            <a:r>
              <a:rPr lang="en-US"/>
              <a:t>Project Name Here</a:t>
            </a:r>
          </a:p>
        </p:txBody>
      </p:sp>
      <p:sp>
        <p:nvSpPr>
          <p:cNvPr id="1048709" name="Slide Number Placeholder 5"/>
          <p:cNvSpPr>
            <a:spLocks noGrp="1"/>
          </p:cNvSpPr>
          <p:nvPr>
            <p:ph type="sldNum" sz="quarter" idx="12"/>
          </p:nvPr>
        </p:nvSpPr>
        <p:spPr/>
        <p:txBody>
          <a:bodyPr/>
          <a:lstStyle/>
          <a:p>
            <a:fld id="{9EBC64C3-3FC7-4C40-910B-2643F037F02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1048716"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1048717"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718" name="Date Placeholder 3"/>
          <p:cNvSpPr>
            <a:spLocks noGrp="1"/>
          </p:cNvSpPr>
          <p:nvPr>
            <p:ph type="dt" sz="half" idx="10"/>
          </p:nvPr>
        </p:nvSpPr>
        <p:spPr>
          <a:xfrm>
            <a:off x="6553200" y="6248402"/>
            <a:ext cx="2209800" cy="365125"/>
          </a:xfrm>
        </p:spPr>
        <p:txBody>
          <a:bodyPr/>
          <a:lstStyle/>
          <a:p>
            <a:r>
              <a:rPr lang="en-US"/>
              <a:t>CS-FYP    Hamdard University </a:t>
            </a:r>
          </a:p>
        </p:txBody>
      </p:sp>
      <p:sp>
        <p:nvSpPr>
          <p:cNvPr id="1048719" name="Footer Placeholder 4"/>
          <p:cNvSpPr>
            <a:spLocks noGrp="1"/>
          </p:cNvSpPr>
          <p:nvPr>
            <p:ph type="ftr" sz="quarter" idx="11"/>
          </p:nvPr>
        </p:nvSpPr>
        <p:spPr>
          <a:xfrm>
            <a:off x="457201" y="6248207"/>
            <a:ext cx="5573483" cy="365125"/>
          </a:xfrm>
        </p:spPr>
        <p:txBody>
          <a:bodyPr/>
          <a:lstStyle/>
          <a:p>
            <a:r>
              <a:rPr lang="en-US"/>
              <a:t>Project Name Here</a:t>
            </a:r>
          </a:p>
        </p:txBody>
      </p:sp>
      <p:sp>
        <p:nvSpPr>
          <p:cNvPr id="1048720"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048721"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048722"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048723" name="Slide Number Placeholder 5"/>
          <p:cNvSpPr>
            <a:spLocks noGrp="1"/>
          </p:cNvSpPr>
          <p:nvPr>
            <p:ph type="sldNum" sz="quarter" idx="12"/>
          </p:nvPr>
        </p:nvSpPr>
        <p:spPr>
          <a:xfrm rot="5400000">
            <a:off x="5989638" y="144462"/>
            <a:ext cx="533400" cy="244476"/>
          </a:xfrm>
        </p:spPr>
        <p:txBody>
          <a:bodyPr/>
          <a:lstStyle/>
          <a:p>
            <a:fld id="{9EBC64C3-3FC7-4C40-910B-2643F037F02C}"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766"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767"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48768" name="Date Placeholder 3"/>
          <p:cNvSpPr>
            <a:spLocks noGrp="1"/>
          </p:cNvSpPr>
          <p:nvPr>
            <p:ph type="dt" sz="half" idx="10"/>
          </p:nvPr>
        </p:nvSpPr>
        <p:spPr/>
        <p:txBody>
          <a:bodyPr/>
          <a:lstStyle/>
          <a:p>
            <a:fld id="{036888AC-FB0C-48C5-9546-BFA209E1C0B0}" type="datetimeFigureOut">
              <a:rPr lang="en-US" smtClean="0"/>
              <a:t>7/20/2025</a:t>
            </a:fld>
            <a:endParaRPr lang="en-US"/>
          </a:p>
        </p:txBody>
      </p:sp>
      <p:sp>
        <p:nvSpPr>
          <p:cNvPr id="1048769" name="Footer Placeholder 4"/>
          <p:cNvSpPr>
            <a:spLocks noGrp="1"/>
          </p:cNvSpPr>
          <p:nvPr>
            <p:ph type="ftr" sz="quarter" idx="11"/>
          </p:nvPr>
        </p:nvSpPr>
        <p:spPr/>
        <p:txBody>
          <a:bodyPr/>
          <a:lstStyle/>
          <a:p>
            <a:endParaRPr lang="en-US"/>
          </a:p>
        </p:txBody>
      </p:sp>
      <p:sp>
        <p:nvSpPr>
          <p:cNvPr id="1048770" name="Slide Number Placeholder 5"/>
          <p:cNvSpPr>
            <a:spLocks noGrp="1"/>
          </p:cNvSpPr>
          <p:nvPr>
            <p:ph type="sldNum" sz="quarter" idx="12"/>
          </p:nvPr>
        </p:nvSpPr>
        <p:spPr/>
        <p:txBody>
          <a:bodyPr/>
          <a:lstStyle/>
          <a:p>
            <a:fld id="{3DED491B-7DAF-4731-BA96-CAE54A69398C}"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60" name="Title 1"/>
          <p:cNvSpPr>
            <a:spLocks noGrp="1"/>
          </p:cNvSpPr>
          <p:nvPr>
            <p:ph type="title" hasCustomPrompt="1"/>
          </p:nvPr>
        </p:nvSpPr>
        <p:spPr>
          <a:xfrm>
            <a:off x="533400" y="304800"/>
            <a:ext cx="8122664" cy="914400"/>
          </a:xfrm>
          <a:ln>
            <a:solidFill>
              <a:srgbClr val="008000"/>
            </a:solidFill>
          </a:ln>
        </p:spPr>
        <p:txBody>
          <a:bodyPr/>
          <a:lstStyle>
            <a:lvl1pPr algn="l"/>
          </a:lstStyle>
          <a:p>
            <a:r>
              <a:rPr lang="en-US" dirty="0"/>
              <a:t> Click to edit Master title style</a:t>
            </a:r>
          </a:p>
        </p:txBody>
      </p:sp>
      <p:sp>
        <p:nvSpPr>
          <p:cNvPr id="1048761" name="Content Placeholder 2"/>
          <p:cNvSpPr>
            <a:spLocks noGrp="1"/>
          </p:cNvSpPr>
          <p:nvPr>
            <p:ph idx="1"/>
          </p:nvPr>
        </p:nvSpPr>
        <p:spPr>
          <a:xfrm>
            <a:off x="457200" y="1722437"/>
            <a:ext cx="8229600" cy="4525963"/>
          </a:xfrm>
        </p:spPr>
        <p:txBody>
          <a:bodyPr/>
          <a:lstStyle>
            <a:lvl1pPr marL="342900" indent="-342900">
              <a:buClr>
                <a:srgbClr val="008000"/>
              </a:buClr>
              <a:buSzPct val="70000"/>
              <a:buFont typeface="Wingdings" pitchFamily="2" charset="2"/>
              <a:buChar char="q"/>
            </a:lvl1pPr>
            <a:lvl2pPr marL="742950" indent="-285750">
              <a:buClr>
                <a:srgbClr val="008000"/>
              </a:buClr>
              <a:buSzPct val="70000"/>
              <a:buFont typeface="Wingdings" pitchFamily="2" charset="2"/>
              <a:buChar char="§"/>
            </a:lvl2pPr>
            <a:lvl3pPr marL="1143000" indent="-228600">
              <a:buClr>
                <a:srgbClr val="008000"/>
              </a:buClr>
              <a:buSzPct val="70000"/>
              <a:buFont typeface="Courier New" pitchFamily="49" charset="0"/>
              <a:buChar char="o"/>
            </a:lvl3pPr>
            <a:lvl4pPr marL="1600200" indent="-228600">
              <a:buClr>
                <a:srgbClr val="008000"/>
              </a:buClr>
              <a:buSzPct val="70000"/>
              <a:buFont typeface="Wingdings" pitchFamily="2" charset="2"/>
              <a:buChar char="q"/>
            </a:lvl4pPr>
            <a:lvl5pPr marL="2057400" indent="-228600">
              <a:buClr>
                <a:srgbClr val="008000"/>
              </a:buClr>
              <a:buSzPct val="70000"/>
              <a:buFont typeface="Wingdings" pitchFamily="2" charset="2"/>
              <a:buChar char="q"/>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762" name="Rectangle 6"/>
          <p:cNvSpPr/>
          <p:nvPr userDrawn="1"/>
        </p:nvSpPr>
        <p:spPr>
          <a:xfrm>
            <a:off x="533400" y="1371600"/>
            <a:ext cx="8122664" cy="228600"/>
          </a:xfrm>
          <a:prstGeom prst="rect">
            <a:avLst/>
          </a:prstGeom>
          <a:solidFill>
            <a:srgbClr val="F86308"/>
          </a:solidFill>
          <a:ln>
            <a:solidFill>
              <a:srgbClr val="F8630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763" name="Slide Number Placeholder 5"/>
          <p:cNvSpPr txBox="1"/>
          <p:nvPr userDrawn="1"/>
        </p:nvSpPr>
        <p:spPr>
          <a:xfrm>
            <a:off x="0" y="1355724"/>
            <a:ext cx="533400" cy="244476"/>
          </a:xfrm>
          <a:prstGeom prst="rect">
            <a:avLst/>
          </a:prstGeom>
          <a:solidFill>
            <a:srgbClr val="008000"/>
          </a:solidFill>
        </p:spPr>
        <p:txBody>
          <a:bodyPr vert="horz" lIns="91440" tIns="45720" rIns="91440" bIns="45720" rtlCol="0" anchor="ctr">
            <a:noAutofit/>
          </a:bodyPr>
          <a:lstStyle>
            <a:defPPr>
              <a:defRPr lang="en-US"/>
            </a:defPPr>
            <a:lvl1pPr marL="0" algn="r" defTabSz="914400" rtl="0" eaLnBrk="1" latinLnBrk="0" hangingPunct="1">
              <a:defRPr sz="18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EBC64C3-3FC7-4C40-910B-2643F037F02C}" type="slidenum">
              <a:rPr lang="en-US" smtClean="0"/>
              <a:t>‹#›</a:t>
            </a:fld>
            <a:endParaRPr lang="en-US" dirty="0"/>
          </a:p>
        </p:txBody>
      </p:sp>
      <p:sp>
        <p:nvSpPr>
          <p:cNvPr id="1048764" name="Date Placeholder 3"/>
          <p:cNvSpPr>
            <a:spLocks noGrp="1"/>
          </p:cNvSpPr>
          <p:nvPr>
            <p:ph type="dt" sz="half" idx="10"/>
          </p:nvPr>
        </p:nvSpPr>
        <p:spPr>
          <a:xfrm>
            <a:off x="6400800" y="6477000"/>
            <a:ext cx="2362200" cy="228600"/>
          </a:xfrm>
          <a:solidFill>
            <a:srgbClr val="008000"/>
          </a:solidFill>
        </p:spPr>
        <p:txBody>
          <a:bodyPr/>
          <a:lstStyle>
            <a:lvl1pPr algn="r">
              <a:defRPr b="0">
                <a:solidFill>
                  <a:schemeClr val="bg1"/>
                </a:solidFill>
              </a:defRPr>
            </a:lvl1pPr>
          </a:lstStyle>
          <a:p>
            <a:r>
              <a:rPr lang="en-US"/>
              <a:t>CS-FYP    Hamdard University </a:t>
            </a:r>
            <a:endParaRPr lang="en-US" dirty="0"/>
          </a:p>
        </p:txBody>
      </p:sp>
      <p:sp>
        <p:nvSpPr>
          <p:cNvPr id="1048765" name="Footer Placeholder 4"/>
          <p:cNvSpPr>
            <a:spLocks noGrp="1"/>
          </p:cNvSpPr>
          <p:nvPr>
            <p:ph type="ftr" sz="quarter" idx="11"/>
          </p:nvPr>
        </p:nvSpPr>
        <p:spPr>
          <a:xfrm>
            <a:off x="914400" y="6477000"/>
            <a:ext cx="5334000" cy="228600"/>
          </a:xfrm>
          <a:solidFill>
            <a:srgbClr val="F86308"/>
          </a:solidFill>
        </p:spPr>
        <p:txBody>
          <a:bodyPr/>
          <a:lstStyle>
            <a:lvl1pPr algn="l">
              <a:defRPr b="0">
                <a:solidFill>
                  <a:schemeClr val="bg1"/>
                </a:solidFill>
              </a:defRPr>
            </a:lvl1pPr>
          </a:lstStyle>
          <a:p>
            <a:r>
              <a:rPr lang="en-US"/>
              <a:t>Project Name Here</a:t>
            </a:r>
            <a:endParaRPr lang="en-US" dirty="0"/>
          </a:p>
        </p:txBody>
      </p:sp>
      <p:pic>
        <p:nvPicPr>
          <p:cNvPr id="2097159" name="Picture 10"/>
          <p:cNvPicPr>
            <a:picLocks noChangeAspect="1"/>
          </p:cNvPicPr>
          <p:nvPr userDrawn="1"/>
        </p:nvPicPr>
        <p:blipFill>
          <a:blip r:embed="rId2" cstate="print"/>
          <a:stretch>
            <a:fillRect/>
          </a:stretch>
        </p:blipFill>
        <p:spPr>
          <a:xfrm>
            <a:off x="76200" y="6248400"/>
            <a:ext cx="611554" cy="5334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81"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782"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3" name="Date Placeholder 3"/>
          <p:cNvSpPr>
            <a:spLocks noGrp="1"/>
          </p:cNvSpPr>
          <p:nvPr>
            <p:ph type="dt" sz="half" idx="10"/>
          </p:nvPr>
        </p:nvSpPr>
        <p:spPr/>
        <p:txBody>
          <a:bodyPr/>
          <a:lstStyle/>
          <a:p>
            <a:fld id="{036888AC-FB0C-48C5-9546-BFA209E1C0B0}" type="datetimeFigureOut">
              <a:rPr lang="en-US" smtClean="0"/>
              <a:t>7/20/2025</a:t>
            </a:fld>
            <a:endParaRPr lang="en-US"/>
          </a:p>
        </p:txBody>
      </p:sp>
      <p:sp>
        <p:nvSpPr>
          <p:cNvPr id="1048784" name="Footer Placeholder 4"/>
          <p:cNvSpPr>
            <a:spLocks noGrp="1"/>
          </p:cNvSpPr>
          <p:nvPr>
            <p:ph type="ftr" sz="quarter" idx="11"/>
          </p:nvPr>
        </p:nvSpPr>
        <p:spPr/>
        <p:txBody>
          <a:bodyPr/>
          <a:lstStyle/>
          <a:p>
            <a:endParaRPr lang="en-US"/>
          </a:p>
        </p:txBody>
      </p:sp>
      <p:sp>
        <p:nvSpPr>
          <p:cNvPr id="1048785" name="Slide Number Placeholder 5"/>
          <p:cNvSpPr>
            <a:spLocks noGrp="1"/>
          </p:cNvSpPr>
          <p:nvPr>
            <p:ph type="sldNum" sz="quarter" idx="12"/>
          </p:nvPr>
        </p:nvSpPr>
        <p:spPr/>
        <p:txBody>
          <a:bodyPr/>
          <a:lstStyle/>
          <a:p>
            <a:fld id="{3DED491B-7DAF-4731-BA96-CAE54A69398C}"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92" name="Title 1"/>
          <p:cNvSpPr>
            <a:spLocks noGrp="1"/>
          </p:cNvSpPr>
          <p:nvPr>
            <p:ph type="title"/>
          </p:nvPr>
        </p:nvSpPr>
        <p:spPr/>
        <p:txBody>
          <a:bodyPr/>
          <a:lstStyle/>
          <a:p>
            <a:r>
              <a:rPr lang="en-US"/>
              <a:t>Click to edit Master title style</a:t>
            </a:r>
          </a:p>
        </p:txBody>
      </p:sp>
      <p:sp>
        <p:nvSpPr>
          <p:cNvPr id="104879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5" name="Date Placeholder 4"/>
          <p:cNvSpPr>
            <a:spLocks noGrp="1"/>
          </p:cNvSpPr>
          <p:nvPr>
            <p:ph type="dt" sz="half" idx="10"/>
          </p:nvPr>
        </p:nvSpPr>
        <p:spPr/>
        <p:txBody>
          <a:bodyPr/>
          <a:lstStyle/>
          <a:p>
            <a:fld id="{036888AC-FB0C-48C5-9546-BFA209E1C0B0}" type="datetimeFigureOut">
              <a:rPr lang="en-US" smtClean="0"/>
              <a:t>7/20/2025</a:t>
            </a:fld>
            <a:endParaRPr lang="en-US"/>
          </a:p>
        </p:txBody>
      </p:sp>
      <p:sp>
        <p:nvSpPr>
          <p:cNvPr id="1048796" name="Footer Placeholder 5"/>
          <p:cNvSpPr>
            <a:spLocks noGrp="1"/>
          </p:cNvSpPr>
          <p:nvPr>
            <p:ph type="ftr" sz="quarter" idx="11"/>
          </p:nvPr>
        </p:nvSpPr>
        <p:spPr/>
        <p:txBody>
          <a:bodyPr/>
          <a:lstStyle/>
          <a:p>
            <a:endParaRPr lang="en-US"/>
          </a:p>
        </p:txBody>
      </p:sp>
      <p:sp>
        <p:nvSpPr>
          <p:cNvPr id="1048797" name="Slide Number Placeholder 6"/>
          <p:cNvSpPr>
            <a:spLocks noGrp="1"/>
          </p:cNvSpPr>
          <p:nvPr>
            <p:ph type="sldNum" sz="quarter" idx="12"/>
          </p:nvPr>
        </p:nvSpPr>
        <p:spPr/>
        <p:txBody>
          <a:bodyPr/>
          <a:lstStyle/>
          <a:p>
            <a:fld id="{3DED491B-7DAF-4731-BA96-CAE54A69398C}"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39" name="Title 1"/>
          <p:cNvSpPr>
            <a:spLocks noGrp="1"/>
          </p:cNvSpPr>
          <p:nvPr>
            <p:ph type="title"/>
          </p:nvPr>
        </p:nvSpPr>
        <p:spPr/>
        <p:txBody>
          <a:bodyPr/>
          <a:lstStyle/>
          <a:p>
            <a:r>
              <a:rPr lang="en-US"/>
              <a:t>Click to edit Master title style</a:t>
            </a:r>
          </a:p>
        </p:txBody>
      </p:sp>
      <p:sp>
        <p:nvSpPr>
          <p:cNvPr id="1048740"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41"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43"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4" name="Date Placeholder 6"/>
          <p:cNvSpPr>
            <a:spLocks noGrp="1"/>
          </p:cNvSpPr>
          <p:nvPr>
            <p:ph type="dt" sz="half" idx="10"/>
          </p:nvPr>
        </p:nvSpPr>
        <p:spPr/>
        <p:txBody>
          <a:bodyPr/>
          <a:lstStyle/>
          <a:p>
            <a:fld id="{036888AC-FB0C-48C5-9546-BFA209E1C0B0}" type="datetimeFigureOut">
              <a:rPr lang="en-US" smtClean="0"/>
              <a:t>7/20/2025</a:t>
            </a:fld>
            <a:endParaRPr lang="en-US"/>
          </a:p>
        </p:txBody>
      </p:sp>
      <p:sp>
        <p:nvSpPr>
          <p:cNvPr id="1048745" name="Footer Placeholder 7"/>
          <p:cNvSpPr>
            <a:spLocks noGrp="1"/>
          </p:cNvSpPr>
          <p:nvPr>
            <p:ph type="ftr" sz="quarter" idx="11"/>
          </p:nvPr>
        </p:nvSpPr>
        <p:spPr/>
        <p:txBody>
          <a:bodyPr/>
          <a:lstStyle/>
          <a:p>
            <a:endParaRPr lang="en-US"/>
          </a:p>
        </p:txBody>
      </p:sp>
      <p:sp>
        <p:nvSpPr>
          <p:cNvPr id="1048746" name="Slide Number Placeholder 8"/>
          <p:cNvSpPr>
            <a:spLocks noGrp="1"/>
          </p:cNvSpPr>
          <p:nvPr>
            <p:ph type="sldNum" sz="quarter" idx="12"/>
          </p:nvPr>
        </p:nvSpPr>
        <p:spPr/>
        <p:txBody>
          <a:bodyPr/>
          <a:lstStyle/>
          <a:p>
            <a:fld id="{3DED491B-7DAF-4731-BA96-CAE54A69398C}"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56" name="Title 1"/>
          <p:cNvSpPr>
            <a:spLocks noGrp="1"/>
          </p:cNvSpPr>
          <p:nvPr>
            <p:ph type="title"/>
          </p:nvPr>
        </p:nvSpPr>
        <p:spPr/>
        <p:txBody>
          <a:bodyPr/>
          <a:lstStyle/>
          <a:p>
            <a:r>
              <a:rPr lang="en-US"/>
              <a:t>Click to edit Master title style</a:t>
            </a:r>
          </a:p>
        </p:txBody>
      </p:sp>
      <p:sp>
        <p:nvSpPr>
          <p:cNvPr id="1048757" name="Date Placeholder 2"/>
          <p:cNvSpPr>
            <a:spLocks noGrp="1"/>
          </p:cNvSpPr>
          <p:nvPr>
            <p:ph type="dt" sz="half" idx="10"/>
          </p:nvPr>
        </p:nvSpPr>
        <p:spPr/>
        <p:txBody>
          <a:bodyPr/>
          <a:lstStyle/>
          <a:p>
            <a:fld id="{036888AC-FB0C-48C5-9546-BFA209E1C0B0}" type="datetimeFigureOut">
              <a:rPr lang="en-US" smtClean="0"/>
              <a:t>7/20/2025</a:t>
            </a:fld>
            <a:endParaRPr lang="en-US"/>
          </a:p>
        </p:txBody>
      </p:sp>
      <p:sp>
        <p:nvSpPr>
          <p:cNvPr id="1048758" name="Footer Placeholder 3"/>
          <p:cNvSpPr>
            <a:spLocks noGrp="1"/>
          </p:cNvSpPr>
          <p:nvPr>
            <p:ph type="ftr" sz="quarter" idx="11"/>
          </p:nvPr>
        </p:nvSpPr>
        <p:spPr/>
        <p:txBody>
          <a:bodyPr/>
          <a:lstStyle/>
          <a:p>
            <a:endParaRPr lang="en-US"/>
          </a:p>
        </p:txBody>
      </p:sp>
      <p:sp>
        <p:nvSpPr>
          <p:cNvPr id="1048759" name="Slide Number Placeholder 4"/>
          <p:cNvSpPr>
            <a:spLocks noGrp="1"/>
          </p:cNvSpPr>
          <p:nvPr>
            <p:ph type="sldNum" sz="quarter" idx="12"/>
          </p:nvPr>
        </p:nvSpPr>
        <p:spPr/>
        <p:txBody>
          <a:bodyPr/>
          <a:lstStyle/>
          <a:p>
            <a:fld id="{3DED491B-7DAF-4731-BA96-CAE54A69398C}"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53" name="Date Placeholder 1"/>
          <p:cNvSpPr>
            <a:spLocks noGrp="1"/>
          </p:cNvSpPr>
          <p:nvPr>
            <p:ph type="dt" sz="half" idx="10"/>
          </p:nvPr>
        </p:nvSpPr>
        <p:spPr/>
        <p:txBody>
          <a:bodyPr/>
          <a:lstStyle/>
          <a:p>
            <a:fld id="{036888AC-FB0C-48C5-9546-BFA209E1C0B0}" type="datetimeFigureOut">
              <a:rPr lang="en-US" smtClean="0"/>
              <a:t>7/20/2025</a:t>
            </a:fld>
            <a:endParaRPr lang="en-US"/>
          </a:p>
        </p:txBody>
      </p:sp>
      <p:sp>
        <p:nvSpPr>
          <p:cNvPr id="1048754" name="Footer Placeholder 2"/>
          <p:cNvSpPr>
            <a:spLocks noGrp="1"/>
          </p:cNvSpPr>
          <p:nvPr>
            <p:ph type="ftr" sz="quarter" idx="11"/>
          </p:nvPr>
        </p:nvSpPr>
        <p:spPr/>
        <p:txBody>
          <a:bodyPr/>
          <a:lstStyle/>
          <a:p>
            <a:endParaRPr lang="en-US"/>
          </a:p>
        </p:txBody>
      </p:sp>
      <p:sp>
        <p:nvSpPr>
          <p:cNvPr id="1048755" name="Slide Number Placeholder 3"/>
          <p:cNvSpPr>
            <a:spLocks noGrp="1"/>
          </p:cNvSpPr>
          <p:nvPr>
            <p:ph type="sldNum" sz="quarter" idx="12"/>
          </p:nvPr>
        </p:nvSpPr>
        <p:spPr/>
        <p:txBody>
          <a:bodyPr/>
          <a:lstStyle/>
          <a:p>
            <a:fld id="{3DED491B-7DAF-4731-BA96-CAE54A69398C}"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86"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787"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88"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89" name="Date Placeholder 4"/>
          <p:cNvSpPr>
            <a:spLocks noGrp="1"/>
          </p:cNvSpPr>
          <p:nvPr>
            <p:ph type="dt" sz="half" idx="10"/>
          </p:nvPr>
        </p:nvSpPr>
        <p:spPr/>
        <p:txBody>
          <a:bodyPr/>
          <a:lstStyle/>
          <a:p>
            <a:fld id="{036888AC-FB0C-48C5-9546-BFA209E1C0B0}" type="datetimeFigureOut">
              <a:rPr lang="en-US" smtClean="0"/>
              <a:t>7/20/2025</a:t>
            </a:fld>
            <a:endParaRPr lang="en-US"/>
          </a:p>
        </p:txBody>
      </p:sp>
      <p:sp>
        <p:nvSpPr>
          <p:cNvPr id="1048790" name="Footer Placeholder 5"/>
          <p:cNvSpPr>
            <a:spLocks noGrp="1"/>
          </p:cNvSpPr>
          <p:nvPr>
            <p:ph type="ftr" sz="quarter" idx="11"/>
          </p:nvPr>
        </p:nvSpPr>
        <p:spPr/>
        <p:txBody>
          <a:bodyPr/>
          <a:lstStyle/>
          <a:p>
            <a:endParaRPr lang="en-US"/>
          </a:p>
        </p:txBody>
      </p:sp>
      <p:sp>
        <p:nvSpPr>
          <p:cNvPr id="1048791" name="Slide Number Placeholder 6"/>
          <p:cNvSpPr>
            <a:spLocks noGrp="1"/>
          </p:cNvSpPr>
          <p:nvPr>
            <p:ph type="sldNum" sz="quarter" idx="12"/>
          </p:nvPr>
        </p:nvSpPr>
        <p:spPr/>
        <p:txBody>
          <a:bodyPr/>
          <a:lstStyle/>
          <a:p>
            <a:fld id="{3DED491B-7DAF-4731-BA96-CAE54A69398C}"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47"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748"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49"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50" name="Date Placeholder 4"/>
          <p:cNvSpPr>
            <a:spLocks noGrp="1"/>
          </p:cNvSpPr>
          <p:nvPr>
            <p:ph type="dt" sz="half" idx="10"/>
          </p:nvPr>
        </p:nvSpPr>
        <p:spPr/>
        <p:txBody>
          <a:bodyPr/>
          <a:lstStyle/>
          <a:p>
            <a:fld id="{036888AC-FB0C-48C5-9546-BFA209E1C0B0}" type="datetimeFigureOut">
              <a:rPr lang="en-US" smtClean="0"/>
              <a:t>7/20/2025</a:t>
            </a:fld>
            <a:endParaRPr lang="en-US"/>
          </a:p>
        </p:txBody>
      </p:sp>
      <p:sp>
        <p:nvSpPr>
          <p:cNvPr id="1048751" name="Footer Placeholder 5"/>
          <p:cNvSpPr>
            <a:spLocks noGrp="1"/>
          </p:cNvSpPr>
          <p:nvPr>
            <p:ph type="ftr" sz="quarter" idx="11"/>
          </p:nvPr>
        </p:nvSpPr>
        <p:spPr/>
        <p:txBody>
          <a:bodyPr/>
          <a:lstStyle/>
          <a:p>
            <a:endParaRPr lang="en-US"/>
          </a:p>
        </p:txBody>
      </p:sp>
      <p:sp>
        <p:nvSpPr>
          <p:cNvPr id="1048752" name="Slide Number Placeholder 6"/>
          <p:cNvSpPr>
            <a:spLocks noGrp="1"/>
          </p:cNvSpPr>
          <p:nvPr>
            <p:ph type="sldNum" sz="quarter" idx="12"/>
          </p:nvPr>
        </p:nvSpPr>
        <p:spPr/>
        <p:txBody>
          <a:bodyPr/>
          <a:lstStyle/>
          <a:p>
            <a:fld id="{3DED491B-7DAF-4731-BA96-CAE54A69398C}"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76" name="Title 1"/>
          <p:cNvSpPr>
            <a:spLocks noGrp="1"/>
          </p:cNvSpPr>
          <p:nvPr>
            <p:ph type="title"/>
          </p:nvPr>
        </p:nvSpPr>
        <p:spPr/>
        <p:txBody>
          <a:bodyPr/>
          <a:lstStyle/>
          <a:p>
            <a:r>
              <a:rPr lang="en-US"/>
              <a:t>Click to edit Master title style</a:t>
            </a:r>
          </a:p>
        </p:txBody>
      </p:sp>
      <p:sp>
        <p:nvSpPr>
          <p:cNvPr id="1048777"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8" name="Date Placeholder 3"/>
          <p:cNvSpPr>
            <a:spLocks noGrp="1"/>
          </p:cNvSpPr>
          <p:nvPr>
            <p:ph type="dt" sz="half" idx="10"/>
          </p:nvPr>
        </p:nvSpPr>
        <p:spPr/>
        <p:txBody>
          <a:bodyPr/>
          <a:lstStyle/>
          <a:p>
            <a:fld id="{036888AC-FB0C-48C5-9546-BFA209E1C0B0}" type="datetimeFigureOut">
              <a:rPr lang="en-US" smtClean="0"/>
              <a:t>7/20/2025</a:t>
            </a:fld>
            <a:endParaRPr lang="en-US"/>
          </a:p>
        </p:txBody>
      </p:sp>
      <p:sp>
        <p:nvSpPr>
          <p:cNvPr id="1048779" name="Footer Placeholder 4"/>
          <p:cNvSpPr>
            <a:spLocks noGrp="1"/>
          </p:cNvSpPr>
          <p:nvPr>
            <p:ph type="ftr" sz="quarter" idx="11"/>
          </p:nvPr>
        </p:nvSpPr>
        <p:spPr/>
        <p:txBody>
          <a:bodyPr/>
          <a:lstStyle/>
          <a:p>
            <a:endParaRPr lang="en-US"/>
          </a:p>
        </p:txBody>
      </p:sp>
      <p:sp>
        <p:nvSpPr>
          <p:cNvPr id="1048780" name="Slide Number Placeholder 5"/>
          <p:cNvSpPr>
            <a:spLocks noGrp="1"/>
          </p:cNvSpPr>
          <p:nvPr>
            <p:ph type="sldNum" sz="quarter" idx="12"/>
          </p:nvPr>
        </p:nvSpPr>
        <p:spPr/>
        <p:txBody>
          <a:bodyPr/>
          <a:lstStyle/>
          <a:p>
            <a:fld id="{3DED491B-7DAF-4731-BA96-CAE54A69398C}"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71"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772"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3" name="Date Placeholder 3"/>
          <p:cNvSpPr>
            <a:spLocks noGrp="1"/>
          </p:cNvSpPr>
          <p:nvPr>
            <p:ph type="dt" sz="half" idx="10"/>
          </p:nvPr>
        </p:nvSpPr>
        <p:spPr/>
        <p:txBody>
          <a:bodyPr/>
          <a:lstStyle/>
          <a:p>
            <a:fld id="{036888AC-FB0C-48C5-9546-BFA209E1C0B0}" type="datetimeFigureOut">
              <a:rPr lang="en-US" smtClean="0"/>
              <a:t>7/20/2025</a:t>
            </a:fld>
            <a:endParaRPr lang="en-US"/>
          </a:p>
        </p:txBody>
      </p:sp>
      <p:sp>
        <p:nvSpPr>
          <p:cNvPr id="1048774" name="Footer Placeholder 4"/>
          <p:cNvSpPr>
            <a:spLocks noGrp="1"/>
          </p:cNvSpPr>
          <p:nvPr>
            <p:ph type="ftr" sz="quarter" idx="11"/>
          </p:nvPr>
        </p:nvSpPr>
        <p:spPr/>
        <p:txBody>
          <a:bodyPr/>
          <a:lstStyle/>
          <a:p>
            <a:endParaRPr lang="en-US"/>
          </a:p>
        </p:txBody>
      </p:sp>
      <p:sp>
        <p:nvSpPr>
          <p:cNvPr id="1048775" name="Slide Number Placeholder 5"/>
          <p:cNvSpPr>
            <a:spLocks noGrp="1"/>
          </p:cNvSpPr>
          <p:nvPr>
            <p:ph type="sldNum" sz="quarter" idx="12"/>
          </p:nvPr>
        </p:nvSpPr>
        <p:spPr/>
        <p:txBody>
          <a:bodyPr/>
          <a:lstStyle/>
          <a:p>
            <a:fld id="{3DED491B-7DAF-4731-BA96-CAE54A69398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048577"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48578"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r>
              <a:rPr lang="en-US"/>
              <a:t>CS-FYP    Hamdard University </a:t>
            </a:r>
          </a:p>
        </p:txBody>
      </p:sp>
      <p:sp>
        <p:nvSpPr>
          <p:cNvPr id="1048579"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r>
              <a:rPr lang="en-US"/>
              <a:t>Project Name Here</a:t>
            </a:r>
          </a:p>
        </p:txBody>
      </p:sp>
      <p:sp>
        <p:nvSpPr>
          <p:cNvPr id="1048580"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581"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582"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58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9EBC64C3-3FC7-4C40-910B-2643F037F02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hdr="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734"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1048735"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6"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6888AC-FB0C-48C5-9546-BFA209E1C0B0}" type="datetimeFigureOut">
              <a:rPr lang="en-US" smtClean="0"/>
              <a:t>7/20/2025</a:t>
            </a:fld>
            <a:endParaRPr lang="en-US"/>
          </a:p>
        </p:txBody>
      </p:sp>
      <p:sp>
        <p:nvSpPr>
          <p:cNvPr id="1048737"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048738"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ED491B-7DAF-4731-BA96-CAE54A69398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jpg"/></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3" name="Picture 2"/>
          <p:cNvPicPr>
            <a:picLocks noChangeAspect="1" noChangeArrowheads="1"/>
          </p:cNvPicPr>
          <p:nvPr/>
        </p:nvPicPr>
        <p:blipFill>
          <a:blip r:embed="rId2" cstate="print"/>
          <a:srcRect/>
          <a:stretch>
            <a:fillRect/>
          </a:stretch>
        </p:blipFill>
        <p:spPr bwMode="auto">
          <a:xfrm>
            <a:off x="1" y="4536327"/>
            <a:ext cx="9140612" cy="2321673"/>
          </a:xfrm>
          <a:prstGeom prst="rect">
            <a:avLst/>
          </a:prstGeom>
          <a:noFill/>
          <a:ln>
            <a:noFill/>
          </a:ln>
          <a:effectLst/>
        </p:spPr>
      </p:pic>
      <p:sp>
        <p:nvSpPr>
          <p:cNvPr id="1048594" name="Rectangle 11"/>
          <p:cNvSpPr/>
          <p:nvPr/>
        </p:nvSpPr>
        <p:spPr>
          <a:xfrm>
            <a:off x="-1" y="6324599"/>
            <a:ext cx="9144001" cy="457201"/>
          </a:xfrm>
          <a:prstGeom prst="rect">
            <a:avLst/>
          </a:prstGeom>
          <a:solidFill>
            <a:srgbClr val="0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33363" algn="ctr"/>
            <a:r>
              <a:rPr lang="en-US" sz="2000" dirty="0"/>
              <a:t>Hamdard University</a:t>
            </a:r>
          </a:p>
        </p:txBody>
      </p:sp>
      <p:sp>
        <p:nvSpPr>
          <p:cNvPr id="1048595" name="Rectangle 12"/>
          <p:cNvSpPr/>
          <p:nvPr/>
        </p:nvSpPr>
        <p:spPr>
          <a:xfrm>
            <a:off x="0" y="6781800"/>
            <a:ext cx="9140612" cy="114300"/>
          </a:xfrm>
          <a:prstGeom prst="rect">
            <a:avLst/>
          </a:prstGeom>
          <a:solidFill>
            <a:srgbClr val="F863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p:cNvGrpSpPr/>
          <p:nvPr/>
        </p:nvGrpSpPr>
        <p:grpSpPr>
          <a:xfrm>
            <a:off x="275731" y="220637"/>
            <a:ext cx="8639669" cy="1682897"/>
            <a:chOff x="275731" y="724507"/>
            <a:chExt cx="8639669" cy="1682897"/>
          </a:xfrm>
        </p:grpSpPr>
        <p:sp>
          <p:nvSpPr>
            <p:cNvPr id="1048587" name="Rectangle 5"/>
            <p:cNvSpPr/>
            <p:nvPr/>
          </p:nvSpPr>
          <p:spPr>
            <a:xfrm>
              <a:off x="1596608" y="724507"/>
              <a:ext cx="5994673" cy="1090650"/>
            </a:xfrm>
            <a:prstGeom prst="rect">
              <a:avLst/>
            </a:prstGeom>
            <a:solidFill>
              <a:srgbClr val="0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t>Web-Based Phishing Detection System</a:t>
              </a:r>
            </a:p>
          </p:txBody>
        </p:sp>
        <p:pic>
          <p:nvPicPr>
            <p:cNvPr id="2097152" name="Picture 7"/>
            <p:cNvPicPr>
              <a:picLocks noChangeAspect="1"/>
            </p:cNvPicPr>
            <p:nvPr/>
          </p:nvPicPr>
          <p:blipFill>
            <a:blip r:embed="rId3" cstate="print"/>
            <a:stretch>
              <a:fillRect/>
            </a:stretch>
          </p:blipFill>
          <p:spPr>
            <a:xfrm>
              <a:off x="275731" y="755759"/>
              <a:ext cx="1129108" cy="1184239"/>
            </a:xfrm>
            <a:prstGeom prst="rect">
              <a:avLst/>
            </a:prstGeom>
          </p:spPr>
        </p:pic>
        <p:sp>
          <p:nvSpPr>
            <p:cNvPr id="1048593" name="Rectangle 13"/>
            <p:cNvSpPr/>
            <p:nvPr/>
          </p:nvSpPr>
          <p:spPr>
            <a:xfrm>
              <a:off x="1596608" y="1857826"/>
              <a:ext cx="5994672" cy="82172"/>
            </a:xfrm>
            <a:prstGeom prst="rect">
              <a:avLst/>
            </a:prstGeom>
            <a:solidFill>
              <a:srgbClr val="F863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2969" y="2007294"/>
              <a:ext cx="5994673" cy="400110"/>
            </a:xfrm>
            <a:prstGeom prst="rect">
              <a:avLst/>
            </a:prstGeom>
            <a:noFill/>
          </p:spPr>
          <p:txBody>
            <a:bodyPr wrap="square" rtlCol="0">
              <a:spAutoFit/>
            </a:bodyPr>
            <a:lstStyle/>
            <a:p>
              <a:pPr algn="ctr">
                <a:spcBef>
                  <a:spcPts val="600"/>
                </a:spcBef>
                <a:spcAft>
                  <a:spcPts val="600"/>
                </a:spcAft>
              </a:pPr>
              <a:r>
                <a:rPr lang="en-US" sz="2000" b="1" dirty="0"/>
                <a:t>FYP Proposal</a:t>
              </a:r>
            </a:p>
          </p:txBody>
        </p:sp>
        <p:pic>
          <p:nvPicPr>
            <p:cNvPr id="16"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86292" y="774260"/>
              <a:ext cx="1129108" cy="1129108"/>
            </a:xfrm>
            <a:prstGeom prst="rect">
              <a:avLst/>
            </a:prstGeom>
          </p:spPr>
        </p:pic>
      </p:grpSp>
      <p:graphicFrame>
        <p:nvGraphicFramePr>
          <p:cNvPr id="7" name="Table 6"/>
          <p:cNvGraphicFramePr>
            <a:graphicFrameLocks noGrp="1"/>
          </p:cNvGraphicFramePr>
          <p:nvPr>
            <p:extLst>
              <p:ext uri="{D42A27DB-BD31-4B8C-83A1-F6EECF244321}">
                <p14:modId xmlns:p14="http://schemas.microsoft.com/office/powerpoint/2010/main" val="1392419623"/>
              </p:ext>
            </p:extLst>
          </p:nvPr>
        </p:nvGraphicFramePr>
        <p:xfrm>
          <a:off x="1545944" y="1903534"/>
          <a:ext cx="6096000" cy="2590800"/>
        </p:xfrm>
        <a:graphic>
          <a:graphicData uri="http://schemas.openxmlformats.org/drawingml/2006/table">
            <a:tbl>
              <a:tblPr firstRow="1" bandRow="1">
                <a:tableStyleId>{2D5ABB26-0587-4C30-8999-92F81FD0307C}</a:tableStyleId>
              </a:tblPr>
              <a:tblGrid>
                <a:gridCol w="3330856">
                  <a:extLst>
                    <a:ext uri="{9D8B030D-6E8A-4147-A177-3AD203B41FA5}">
                      <a16:colId xmlns:a16="http://schemas.microsoft.com/office/drawing/2014/main" val="1609330656"/>
                    </a:ext>
                  </a:extLst>
                </a:gridCol>
                <a:gridCol w="2765144">
                  <a:extLst>
                    <a:ext uri="{9D8B030D-6E8A-4147-A177-3AD203B41FA5}">
                      <a16:colId xmlns:a16="http://schemas.microsoft.com/office/drawing/2014/main" val="3236874084"/>
                    </a:ext>
                  </a:extLst>
                </a:gridCol>
              </a:tblGrid>
              <a:tr h="347292">
                <a:tc>
                  <a:txBody>
                    <a:bodyPr/>
                    <a:lstStyle/>
                    <a:p>
                      <a:pPr algn="r"/>
                      <a:r>
                        <a:rPr lang="en-US" dirty="0"/>
                        <a:t>Muhammad </a:t>
                      </a:r>
                      <a:r>
                        <a:rPr lang="en-US" dirty="0" err="1"/>
                        <a:t>Ibtehaj</a:t>
                      </a:r>
                      <a:r>
                        <a:rPr lang="en-US" dirty="0"/>
                        <a:t> Mubarak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(2278-2022)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737841493"/>
                  </a:ext>
                </a:extLst>
              </a:tr>
              <a:tr h="347292">
                <a:tc>
                  <a:txBody>
                    <a:bodyPr/>
                    <a:lstStyle/>
                    <a:p>
                      <a:pPr algn="r"/>
                      <a:r>
                        <a:rPr lang="en-US" dirty="0"/>
                        <a:t>Muhammad Zaid Bin Saud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(1768-2022)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70849678"/>
                  </a:ext>
                </a:extLst>
              </a:tr>
              <a:tr h="347292">
                <a:tc>
                  <a:txBody>
                    <a:bodyPr/>
                    <a:lstStyle/>
                    <a:p>
                      <a:pPr algn="r"/>
                      <a:r>
                        <a:rPr lang="en-US" dirty="0">
                          <a:effectLst/>
                          <a:ea typeface="Times New Roman" panose="02020603050405020304" pitchFamily="18" charset="0"/>
                        </a:rPr>
                        <a:t>Muhammad </a:t>
                      </a:r>
                      <a:r>
                        <a:rPr lang="en-US" dirty="0" err="1">
                          <a:effectLst/>
                          <a:ea typeface="Times New Roman" panose="02020603050405020304" pitchFamily="18" charset="0"/>
                        </a:rPr>
                        <a:t>Azaan</a:t>
                      </a:r>
                      <a:r>
                        <a:rPr lang="en-US" dirty="0">
                          <a:effectLst/>
                          <a:ea typeface="Times New Roman" panose="02020603050405020304" pitchFamily="18" charset="0"/>
                        </a:rPr>
                        <a:t> Rashid </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effectLst/>
                          <a:ea typeface="Times New Roman" panose="02020603050405020304" pitchFamily="18" charset="0"/>
                        </a:rPr>
                        <a:t>(2996-2020)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1031061"/>
                  </a:ext>
                </a:extLst>
              </a:tr>
              <a:tr h="1418110">
                <a:tc gridSpan="2">
                  <a:txBody>
                    <a:bodyPr/>
                    <a:lstStyle/>
                    <a:p>
                      <a:pPr algn="ctr"/>
                      <a:endParaRPr lang="en-US" sz="1200" b="1" dirty="0"/>
                    </a:p>
                    <a:p>
                      <a:pPr algn="ctr"/>
                      <a:r>
                        <a:rPr lang="en-US" sz="2000" b="1" dirty="0"/>
                        <a:t>Supervisor</a:t>
                      </a:r>
                      <a:br>
                        <a:rPr lang="en-US" sz="2000" dirty="0"/>
                      </a:br>
                      <a:r>
                        <a:rPr lang="en-US" sz="2000" dirty="0">
                          <a:effectLst/>
                        </a:rPr>
                        <a:t>Engr</a:t>
                      </a:r>
                      <a:r>
                        <a:rPr lang="en-US" sz="2000" dirty="0">
                          <a:effectLst/>
                          <a:ea typeface="Times New Roman" panose="02020603050405020304" pitchFamily="18" charset="0"/>
                        </a:rPr>
                        <a:t>. Abdul </a:t>
                      </a:r>
                      <a:r>
                        <a:rPr lang="en-US" sz="2000" dirty="0" err="1">
                          <a:effectLst/>
                          <a:ea typeface="Times New Roman" panose="02020603050405020304" pitchFamily="18" charset="0"/>
                        </a:rPr>
                        <a:t>Razaque</a:t>
                      </a:r>
                      <a:r>
                        <a:rPr lang="en-US" sz="2000" dirty="0">
                          <a:effectLst/>
                          <a:ea typeface="Times New Roman" panose="02020603050405020304" pitchFamily="18" charset="0"/>
                        </a:rPr>
                        <a:t> </a:t>
                      </a:r>
                    </a:p>
                    <a:p>
                      <a:pPr algn="ctr"/>
                      <a:r>
                        <a:rPr lang="en-US" sz="2000" b="1" dirty="0"/>
                        <a:t>External Supervisor</a:t>
                      </a:r>
                      <a:br>
                        <a:rPr lang="en-US" sz="2000" dirty="0"/>
                      </a:br>
                      <a:r>
                        <a:rPr lang="en-US" sz="2000" dirty="0">
                          <a:effectLst/>
                        </a:rPr>
                        <a:t>None</a:t>
                      </a:r>
                      <a:endParaRPr lang="en-US" sz="2000" dirty="0">
                        <a:effectLst/>
                        <a:ea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3287309"/>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Title 1"/>
          <p:cNvSpPr>
            <a:spLocks noGrp="1"/>
          </p:cNvSpPr>
          <p:nvPr>
            <p:ph type="title"/>
          </p:nvPr>
        </p:nvSpPr>
        <p:spPr/>
        <p:txBody>
          <a:bodyPr/>
          <a:lstStyle/>
          <a:p>
            <a:r>
              <a:rPr lang="en-US" dirty="0">
                <a:solidFill>
                  <a:schemeClr val="dk2"/>
                </a:solidFill>
                <a:latin typeface="Twentieth Century"/>
                <a:ea typeface="Twentieth Century"/>
                <a:cs typeface="Twentieth Century"/>
              </a:rPr>
              <a:t>Outline</a:t>
            </a:r>
            <a:endParaRPr lang="en-US" dirty="0"/>
          </a:p>
        </p:txBody>
      </p:sp>
      <p:sp>
        <p:nvSpPr>
          <p:cNvPr id="2" name="Content Placeholder 1"/>
          <p:cNvSpPr>
            <a:spLocks noGrp="1"/>
          </p:cNvSpPr>
          <p:nvPr>
            <p:ph sz="quarter" idx="1"/>
          </p:nvPr>
        </p:nvSpPr>
        <p:spPr/>
        <p:txBody>
          <a:bodyPr>
            <a:normAutofit/>
          </a:bodyPr>
          <a:lstStyle/>
          <a:p>
            <a:pPr>
              <a:lnSpc>
                <a:spcPct val="120000"/>
              </a:lnSpc>
              <a:spcBef>
                <a:spcPts val="400"/>
              </a:spcBef>
              <a:buSzPct val="59999"/>
              <a:buFont typeface="Wingdings" panose="05000000000000000000" pitchFamily="2" charset="2"/>
              <a:buChar char="§"/>
            </a:pPr>
            <a:r>
              <a:rPr lang="en-US" sz="1600" dirty="0"/>
              <a:t>Group Introduction</a:t>
            </a:r>
          </a:p>
          <a:p>
            <a:pPr>
              <a:lnSpc>
                <a:spcPct val="120000"/>
              </a:lnSpc>
              <a:spcBef>
                <a:spcPts val="400"/>
              </a:spcBef>
              <a:buSzPct val="59999"/>
              <a:buFont typeface="Wingdings" panose="05000000000000000000" pitchFamily="2" charset="2"/>
              <a:buChar char="§"/>
            </a:pPr>
            <a:r>
              <a:rPr lang="en-US" sz="1600" dirty="0"/>
              <a:t>Problem Statement </a:t>
            </a:r>
          </a:p>
          <a:p>
            <a:pPr>
              <a:lnSpc>
                <a:spcPct val="120000"/>
              </a:lnSpc>
              <a:spcBef>
                <a:spcPts val="400"/>
              </a:spcBef>
              <a:buSzPct val="59999"/>
              <a:buFont typeface="Wingdings" panose="05000000000000000000" pitchFamily="2" charset="2"/>
              <a:buChar char="§"/>
            </a:pPr>
            <a:r>
              <a:rPr lang="en-US" sz="1600" dirty="0"/>
              <a:t>Project Objectives</a:t>
            </a:r>
          </a:p>
          <a:p>
            <a:pPr>
              <a:spcBef>
                <a:spcPts val="400"/>
              </a:spcBef>
              <a:buSzPct val="59999"/>
              <a:buFont typeface="Wingdings" panose="05000000000000000000" pitchFamily="2" charset="2"/>
              <a:buChar char="§"/>
            </a:pPr>
            <a:r>
              <a:rPr lang="en-US" sz="1600" dirty="0"/>
              <a:t>Project Scope</a:t>
            </a:r>
          </a:p>
          <a:p>
            <a:pPr>
              <a:spcBef>
                <a:spcPts val="400"/>
              </a:spcBef>
              <a:buSzPct val="59999"/>
              <a:buFont typeface="Wingdings" panose="05000000000000000000" pitchFamily="2" charset="2"/>
              <a:buChar char="§"/>
            </a:pPr>
            <a:r>
              <a:rPr lang="en-US" sz="1600" dirty="0"/>
              <a:t>Comprehensive Literature Review</a:t>
            </a:r>
          </a:p>
          <a:p>
            <a:pPr>
              <a:spcBef>
                <a:spcPts val="400"/>
              </a:spcBef>
              <a:buSzPct val="59999"/>
              <a:buFont typeface="Wingdings" panose="05000000000000000000" pitchFamily="2" charset="2"/>
              <a:buChar char="§"/>
            </a:pPr>
            <a:r>
              <a:rPr lang="en-US" sz="1600" dirty="0"/>
              <a:t>Architectural Big Picture</a:t>
            </a:r>
          </a:p>
          <a:p>
            <a:pPr>
              <a:spcBef>
                <a:spcPts val="400"/>
              </a:spcBef>
              <a:buSzPct val="59999"/>
              <a:buFont typeface="Wingdings" panose="05000000000000000000" pitchFamily="2" charset="2"/>
              <a:buChar char="§"/>
            </a:pPr>
            <a:r>
              <a:rPr lang="en-US" sz="1600" dirty="0"/>
              <a:t>Methodology</a:t>
            </a:r>
          </a:p>
          <a:p>
            <a:pPr>
              <a:spcBef>
                <a:spcPts val="400"/>
              </a:spcBef>
              <a:buSzPct val="59999"/>
              <a:buFont typeface="Wingdings" panose="05000000000000000000" pitchFamily="2" charset="2"/>
              <a:buChar char="§"/>
            </a:pPr>
            <a:r>
              <a:rPr lang="en-US" sz="1600" dirty="0"/>
              <a:t>Role &amp; Responsibility</a:t>
            </a:r>
          </a:p>
          <a:p>
            <a:pPr>
              <a:spcBef>
                <a:spcPts val="400"/>
              </a:spcBef>
              <a:buSzPct val="59999"/>
              <a:buFont typeface="Wingdings" panose="05000000000000000000" pitchFamily="2" charset="2"/>
              <a:buChar char="§"/>
            </a:pPr>
            <a:r>
              <a:rPr lang="en-US" sz="1600" dirty="0"/>
              <a:t>Project Milestones</a:t>
            </a:r>
          </a:p>
          <a:p>
            <a:pPr>
              <a:spcBef>
                <a:spcPts val="400"/>
              </a:spcBef>
              <a:buSzPct val="59999"/>
              <a:buFont typeface="Wingdings" panose="05000000000000000000" pitchFamily="2" charset="2"/>
              <a:buChar char="§"/>
            </a:pPr>
            <a:r>
              <a:rPr lang="en-US" sz="1600" dirty="0"/>
              <a:t>Project Plan (Time lines)</a:t>
            </a:r>
          </a:p>
          <a:p>
            <a:pPr>
              <a:spcBef>
                <a:spcPts val="400"/>
              </a:spcBef>
              <a:buSzPct val="59999"/>
              <a:buFont typeface="Wingdings" panose="05000000000000000000" pitchFamily="2" charset="2"/>
              <a:buChar char="§"/>
            </a:pPr>
            <a:r>
              <a:rPr lang="en-US" sz="1600" dirty="0"/>
              <a:t>Project Budgeting </a:t>
            </a:r>
          </a:p>
          <a:p>
            <a:pPr>
              <a:spcBef>
                <a:spcPts val="400"/>
              </a:spcBef>
              <a:buSzPct val="59999"/>
              <a:buFont typeface="Wingdings" panose="05000000000000000000" pitchFamily="2" charset="2"/>
              <a:buChar char="§"/>
            </a:pPr>
            <a:r>
              <a:rPr lang="en-US" sz="1600" dirty="0"/>
              <a:t>Project Tools</a:t>
            </a:r>
          </a:p>
          <a:p>
            <a:pPr>
              <a:spcBef>
                <a:spcPts val="400"/>
              </a:spcBef>
              <a:buSzPct val="59999"/>
              <a:buFont typeface="Wingdings" panose="05000000000000000000" pitchFamily="2" charset="2"/>
              <a:buChar char="§"/>
            </a:pPr>
            <a:r>
              <a:rPr lang="en-US" sz="1600" dirty="0"/>
              <a:t>Project Deliverables</a:t>
            </a:r>
          </a:p>
        </p:txBody>
      </p:sp>
      <p:pic>
        <p:nvPicPr>
          <p:cNvPr id="5" name="Content Placeholder 4" descr="CPU with binary numbers and blueprint">
            <a:extLst>
              <a:ext uri="{FF2B5EF4-FFF2-40B4-BE49-F238E27FC236}">
                <a16:creationId xmlns:a16="http://schemas.microsoft.com/office/drawing/2014/main" id="{8FD10CA0-932C-CFB6-97BB-A2CC60727445}"/>
              </a:ext>
            </a:extLst>
          </p:cNvPr>
          <p:cNvPicPr>
            <a:picLocks noGrp="1" noChangeAspect="1"/>
          </p:cNvPicPr>
          <p:nvPr>
            <p:ph sz="quarter" idx="2"/>
          </p:nvPr>
        </p:nvPicPr>
        <p:blipFill>
          <a:blip r:embed="rId2" cstate="print">
            <a:extLst>
              <a:ext uri="{28A0092B-C50C-407E-A947-70E740481C1C}">
                <a14:useLocalDpi xmlns:a14="http://schemas.microsoft.com/office/drawing/2010/main" val="0"/>
              </a:ext>
            </a:extLst>
          </a:blip>
          <a:stretch>
            <a:fillRect/>
          </a:stretch>
        </p:blipFill>
        <p:spPr>
          <a:xfrm>
            <a:off x="4845050" y="1676400"/>
            <a:ext cx="3886200" cy="3962400"/>
          </a:xfrm>
        </p:spPr>
      </p:pic>
      <p:sp>
        <p:nvSpPr>
          <p:cNvPr id="1048605" name="Slide Number Placeholder 7"/>
          <p:cNvSpPr>
            <a:spLocks noGrp="1"/>
          </p:cNvSpPr>
          <p:nvPr>
            <p:ph type="sldNum" sz="quarter" idx="16"/>
          </p:nvPr>
        </p:nvSpPr>
        <p:spPr/>
        <p:txBody>
          <a:bodyPr>
            <a:normAutofit fontScale="85000" lnSpcReduction="20000"/>
          </a:bodyPr>
          <a:lstStyle/>
          <a:p>
            <a:fld id="{9EBC64C3-3FC7-4C40-910B-2643F037F02C}" type="slidenum">
              <a:rPr lang="en-US" smtClean="0"/>
              <a:t>2</a:t>
            </a:fld>
            <a:endParaRPr lang="en-US" dirty="0"/>
          </a:p>
        </p:txBody>
      </p:sp>
      <p:sp>
        <p:nvSpPr>
          <p:cNvPr id="1048604" name="Date Placeholder 5"/>
          <p:cNvSpPr>
            <a:spLocks noGrp="1"/>
          </p:cNvSpPr>
          <p:nvPr>
            <p:ph type="dt" sz="half" idx="10"/>
          </p:nvPr>
        </p:nvSpPr>
        <p:spPr/>
        <p:txBody>
          <a:bodyPr/>
          <a:lstStyle/>
          <a:p>
            <a:r>
              <a:rPr lang="en-US" sz="1200" dirty="0"/>
              <a:t>CS-FYP</a:t>
            </a:r>
            <a:r>
              <a:rPr lang="en-US" dirty="0"/>
              <a:t>    </a:t>
            </a:r>
            <a:r>
              <a:rPr lang="en-US" dirty="0" err="1"/>
              <a:t>Hamdard</a:t>
            </a:r>
            <a:r>
              <a:rPr lang="en-US" dirty="0"/>
              <a:t> University </a:t>
            </a:r>
          </a:p>
        </p:txBody>
      </p:sp>
      <p:sp>
        <p:nvSpPr>
          <p:cNvPr id="1048603" name="Footer Placeholder 3"/>
          <p:cNvSpPr>
            <a:spLocks noGrp="1"/>
          </p:cNvSpPr>
          <p:nvPr>
            <p:ph type="ftr" sz="quarter" idx="4294967295"/>
          </p:nvPr>
        </p:nvSpPr>
        <p:spPr>
          <a:xfrm>
            <a:off x="609600" y="6454774"/>
            <a:ext cx="5410200" cy="288925"/>
          </a:xfrm>
          <a:solidFill>
            <a:srgbClr val="F86308"/>
          </a:solidFill>
        </p:spPr>
        <p:txBody>
          <a:bodyPr/>
          <a:lstStyle/>
          <a:p>
            <a:pPr algn="ctr"/>
            <a:r>
              <a:rPr lang="en-US" sz="1400" dirty="0">
                <a:solidFill>
                  <a:schemeClr val="tx1"/>
                </a:solidFill>
              </a:rPr>
              <a:t>Web-Based Phishing Detection System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Title 1"/>
          <p:cNvSpPr>
            <a:spLocks noGrp="1"/>
          </p:cNvSpPr>
          <p:nvPr>
            <p:ph type="title"/>
          </p:nvPr>
        </p:nvSpPr>
        <p:spPr/>
        <p:txBody>
          <a:bodyPr>
            <a:normAutofit/>
          </a:bodyPr>
          <a:lstStyle/>
          <a:p>
            <a:r>
              <a:rPr lang="en-US" dirty="0">
                <a:solidFill>
                  <a:schemeClr val="dk2"/>
                </a:solidFill>
                <a:latin typeface="Twentieth Century"/>
                <a:ea typeface="Twentieth Century"/>
                <a:cs typeface="Twentieth Century"/>
              </a:rPr>
              <a:t>Group </a:t>
            </a:r>
            <a:r>
              <a:rPr lang="en-US" b="1" dirty="0">
                <a:solidFill>
                  <a:schemeClr val="dk2"/>
                </a:solidFill>
                <a:latin typeface="Twentieth Century"/>
                <a:ea typeface="Twentieth Century"/>
                <a:cs typeface="Twentieth Century"/>
              </a:rPr>
              <a:t>Introduction</a:t>
            </a:r>
            <a:r>
              <a:rPr lang="en-US" dirty="0">
                <a:solidFill>
                  <a:schemeClr val="dk2"/>
                </a:solidFill>
                <a:latin typeface="Twentieth Century"/>
                <a:ea typeface="Twentieth Century"/>
                <a:cs typeface="Twentieth Century"/>
              </a:rPr>
              <a:t> </a:t>
            </a:r>
          </a:p>
        </p:txBody>
      </p:sp>
      <p:sp>
        <p:nvSpPr>
          <p:cNvPr id="1048608" name="Content Placeholder 2"/>
          <p:cNvSpPr>
            <a:spLocks noGrp="1"/>
          </p:cNvSpPr>
          <p:nvPr>
            <p:ph sz="quarter" idx="1"/>
          </p:nvPr>
        </p:nvSpPr>
        <p:spPr>
          <a:xfrm>
            <a:off x="533400" y="1524000"/>
            <a:ext cx="8382000" cy="4724400"/>
          </a:xfrm>
        </p:spPr>
        <p:txBody>
          <a:bodyPr>
            <a:normAutofit fontScale="87500" lnSpcReduction="20000"/>
          </a:bodyPr>
          <a:lstStyle/>
          <a:p>
            <a:pPr marL="0" indent="0">
              <a:buNone/>
            </a:pPr>
            <a:r>
              <a:rPr lang="en-US" sz="2200" b="1" u="sng" dirty="0"/>
              <a:t>Group Members</a:t>
            </a:r>
          </a:p>
          <a:p>
            <a:pPr marL="342900" indent="-342900">
              <a:buFont typeface="Wingdings" panose="05000000000000000000" pitchFamily="2" charset="2"/>
              <a:buChar char="q"/>
            </a:pPr>
            <a:r>
              <a:rPr lang="en-US" sz="2000" dirty="0">
                <a:cs typeface="Calibri" panose="020F0502020204030204" pitchFamily="34" charset="0"/>
              </a:rPr>
              <a:t>Muhammad </a:t>
            </a:r>
            <a:r>
              <a:rPr lang="en-US" sz="2000" dirty="0" err="1">
                <a:cs typeface="Calibri" panose="020F0502020204030204" pitchFamily="34" charset="0"/>
              </a:rPr>
              <a:t>Ibtehaj</a:t>
            </a:r>
            <a:r>
              <a:rPr lang="en-US" sz="2000" dirty="0">
                <a:cs typeface="Calibri" panose="020F0502020204030204" pitchFamily="34" charset="0"/>
              </a:rPr>
              <a:t> Mubarak</a:t>
            </a:r>
          </a:p>
          <a:p>
            <a:pPr marL="342900" indent="-342900">
              <a:buFont typeface="Wingdings" panose="05000000000000000000" pitchFamily="2" charset="2"/>
              <a:buChar char="q"/>
            </a:pPr>
            <a:r>
              <a:rPr lang="en-US" sz="2000" dirty="0">
                <a:cs typeface="Calibri" panose="020F0502020204030204" pitchFamily="34" charset="0"/>
              </a:rPr>
              <a:t>Muhammad Zaid Bin Saud	</a:t>
            </a:r>
          </a:p>
          <a:p>
            <a:pPr marL="285750" indent="-285750">
              <a:buFont typeface="Wingdings" panose="05000000000000000000" pitchFamily="2" charset="2"/>
              <a:buChar char="q"/>
            </a:pPr>
            <a:r>
              <a:rPr lang="en-US" sz="2000" dirty="0">
                <a:effectLst/>
                <a:ea typeface="Times New Roman" panose="02020603050405020304" pitchFamily="18" charset="0"/>
                <a:cs typeface="Calibri" panose="020F0502020204030204" pitchFamily="34" charset="0"/>
              </a:rPr>
              <a:t> Muhammad </a:t>
            </a:r>
            <a:r>
              <a:rPr lang="en-US" sz="2000" dirty="0" err="1">
                <a:effectLst/>
                <a:ea typeface="Times New Roman" panose="02020603050405020304" pitchFamily="18" charset="0"/>
                <a:cs typeface="Calibri" panose="020F0502020204030204" pitchFamily="34" charset="0"/>
              </a:rPr>
              <a:t>Azaan</a:t>
            </a:r>
            <a:r>
              <a:rPr lang="en-US" sz="2000" dirty="0">
                <a:effectLst/>
                <a:ea typeface="Times New Roman" panose="02020603050405020304" pitchFamily="18" charset="0"/>
                <a:cs typeface="Calibri" panose="020F0502020204030204" pitchFamily="34" charset="0"/>
              </a:rPr>
              <a:t> Rashid</a:t>
            </a:r>
          </a:p>
          <a:p>
            <a:pPr marL="0" indent="0">
              <a:buNone/>
            </a:pPr>
            <a:endParaRPr lang="en-US" sz="2000" dirty="0"/>
          </a:p>
          <a:p>
            <a:pPr marL="0" indent="0">
              <a:buNone/>
            </a:pPr>
            <a:r>
              <a:rPr lang="en-US" sz="2200" b="1" u="sng" dirty="0"/>
              <a:t>Supervisor: Mr. Abdul </a:t>
            </a:r>
            <a:r>
              <a:rPr lang="en-US" sz="2200" b="1" u="sng" dirty="0" err="1"/>
              <a:t>Razaque</a:t>
            </a:r>
            <a:endParaRPr lang="en-US" sz="2200" dirty="0"/>
          </a:p>
          <a:p>
            <a:pPr lvl="1"/>
            <a:r>
              <a:rPr lang="en-US" sz="2200" b="1" dirty="0"/>
              <a:t>Why we selected him as supervisor?</a:t>
            </a:r>
          </a:p>
          <a:p>
            <a:pPr marL="365760" lvl="1" indent="0">
              <a:buNone/>
            </a:pPr>
            <a:r>
              <a:rPr lang="en-GB" sz="1900" dirty="0"/>
              <a:t>He has guided several industry-related web application projects in the past. Our project scope and domain is closely aligned with his expertise, making him the ideal mentor. We are confident that he will provide valuable guidance throughout the development.</a:t>
            </a:r>
            <a:endParaRPr lang="en-US" sz="2000" dirty="0"/>
          </a:p>
          <a:p>
            <a:pPr lvl="1"/>
            <a:r>
              <a:rPr lang="en-US" sz="2200" b="1" dirty="0"/>
              <a:t>Relevant Expertise </a:t>
            </a:r>
          </a:p>
          <a:p>
            <a:pPr marL="365760" lvl="1" indent="0">
              <a:buNone/>
            </a:pPr>
            <a:r>
              <a:rPr lang="en-GB" sz="1900" dirty="0"/>
              <a:t>He has relevant experience in mobile app development and security-based projects, which directly supports our project goals.</a:t>
            </a:r>
            <a:endParaRPr lang="en-US" sz="2100" dirty="0"/>
          </a:p>
          <a:p>
            <a:pPr lvl="1"/>
            <a:r>
              <a:rPr lang="en-US" sz="2200" b="1" dirty="0"/>
              <a:t>Relevant Experience</a:t>
            </a:r>
          </a:p>
          <a:p>
            <a:pPr marL="365760" lvl="1" indent="0">
              <a:buNone/>
            </a:pPr>
            <a:r>
              <a:rPr lang="en-GB" sz="1900" dirty="0"/>
              <a:t>He has 6 years of industrial experience in the IT sector, working on real-world applications and secure systems.</a:t>
            </a:r>
            <a:endParaRPr lang="en-US" sz="1900" dirty="0"/>
          </a:p>
        </p:txBody>
      </p:sp>
      <p:sp>
        <p:nvSpPr>
          <p:cNvPr id="1048609" name="Footer Placeholder 3"/>
          <p:cNvSpPr>
            <a:spLocks noGrp="1"/>
          </p:cNvSpPr>
          <p:nvPr>
            <p:ph type="ftr" sz="quarter" idx="11"/>
          </p:nvPr>
        </p:nvSpPr>
        <p:spPr/>
        <p:txBody>
          <a:bodyPr/>
          <a:lstStyle/>
          <a:p>
            <a:pPr algn="ctr"/>
            <a:r>
              <a:rPr lang="en-US" sz="1400" dirty="0">
                <a:solidFill>
                  <a:schemeClr val="tx1"/>
                </a:solidFill>
              </a:rPr>
              <a:t>Web-Based Phishing Detection System</a:t>
            </a:r>
          </a:p>
        </p:txBody>
      </p:sp>
      <p:sp>
        <p:nvSpPr>
          <p:cNvPr id="1048610" name="Date Placeholder 5"/>
          <p:cNvSpPr>
            <a:spLocks noGrp="1"/>
          </p:cNvSpPr>
          <p:nvPr>
            <p:ph type="dt" sz="half" idx="10"/>
          </p:nvPr>
        </p:nvSpPr>
        <p:spPr/>
        <p:txBody>
          <a:bodyPr/>
          <a:lstStyle/>
          <a:p>
            <a:r>
              <a:rPr lang="en-US" sz="1200"/>
              <a:t>CS-FYP    Hamdard University </a:t>
            </a:r>
            <a:endParaRPr lang="en-US" sz="1200" dirty="0"/>
          </a:p>
        </p:txBody>
      </p:sp>
      <p:sp>
        <p:nvSpPr>
          <p:cNvPr id="1048611" name="Slide Number Placeholder 6"/>
          <p:cNvSpPr>
            <a:spLocks noGrp="1"/>
          </p:cNvSpPr>
          <p:nvPr>
            <p:ph type="sldNum" sz="quarter" idx="12"/>
          </p:nvPr>
        </p:nvSpPr>
        <p:spPr/>
        <p:txBody>
          <a:bodyPr/>
          <a:lstStyle/>
          <a:p>
            <a:fld id="{9EBC64C3-3FC7-4C40-910B-2643F037F02C}" type="slidenum">
              <a:rPr lang="en-US" smtClean="0"/>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Title 1"/>
          <p:cNvSpPr>
            <a:spLocks noGrp="1"/>
          </p:cNvSpPr>
          <p:nvPr>
            <p:ph type="title"/>
          </p:nvPr>
        </p:nvSpPr>
        <p:spPr/>
        <p:txBody>
          <a:bodyPr>
            <a:normAutofit/>
          </a:bodyPr>
          <a:lstStyle/>
          <a:p>
            <a:r>
              <a:rPr lang="en-US" b="1" dirty="0">
                <a:solidFill>
                  <a:schemeClr val="dk2"/>
                </a:solidFill>
                <a:latin typeface="Twentieth Century"/>
                <a:ea typeface="Twentieth Century"/>
                <a:cs typeface="Twentieth Century"/>
              </a:rPr>
              <a:t>Problem </a:t>
            </a:r>
            <a:r>
              <a:rPr lang="en-US" dirty="0">
                <a:solidFill>
                  <a:schemeClr val="dk2"/>
                </a:solidFill>
                <a:latin typeface="Twentieth Century"/>
                <a:ea typeface="Twentieth Century"/>
                <a:cs typeface="Twentieth Century"/>
              </a:rPr>
              <a:t>Statement</a:t>
            </a:r>
          </a:p>
        </p:txBody>
      </p:sp>
      <p:sp>
        <p:nvSpPr>
          <p:cNvPr id="1048613" name="Content Placeholder 2"/>
          <p:cNvSpPr>
            <a:spLocks noGrp="1"/>
          </p:cNvSpPr>
          <p:nvPr>
            <p:ph sz="quarter" idx="1"/>
          </p:nvPr>
        </p:nvSpPr>
        <p:spPr>
          <a:xfrm>
            <a:off x="533400" y="1676400"/>
            <a:ext cx="8381999" cy="4572000"/>
          </a:xfrm>
        </p:spPr>
        <p:txBody>
          <a:bodyPr>
            <a:normAutofit/>
          </a:bodyPr>
          <a:lstStyle/>
          <a:p>
            <a:pPr marL="233363" lvl="2" indent="0" algn="ctr">
              <a:buNone/>
            </a:pPr>
            <a:endParaRPr lang="en-US" sz="2000" dirty="0"/>
          </a:p>
          <a:p>
            <a:pPr marL="233363" lvl="2" indent="0" algn="ctr">
              <a:buNone/>
            </a:pPr>
            <a:r>
              <a:rPr lang="en-US" sz="3200" b="1" dirty="0"/>
              <a:t>“</a:t>
            </a:r>
            <a:r>
              <a:rPr lang="en-US" sz="3200" b="1" u="sng" dirty="0">
                <a:solidFill>
                  <a:schemeClr val="tx1"/>
                </a:solidFill>
              </a:rPr>
              <a:t>Web-Based Phishing Detection System</a:t>
            </a:r>
            <a:r>
              <a:rPr lang="en-US" sz="3200" b="1" dirty="0"/>
              <a:t>”</a:t>
            </a:r>
          </a:p>
          <a:p>
            <a:pPr marL="233363" lvl="2" indent="0" algn="ctr">
              <a:buNone/>
            </a:pPr>
            <a:endParaRPr lang="en-US" sz="2000" dirty="0"/>
          </a:p>
          <a:p>
            <a:pPr>
              <a:buFont typeface="Wingdings" panose="05000000000000000000" pitchFamily="2" charset="2"/>
              <a:buChar char="Ø"/>
            </a:pPr>
            <a:r>
              <a:rPr lang="en-GB" sz="1800" dirty="0"/>
              <a:t>Internet users are increasingly vulnerable to phishing attacks that trick them into clicking fake or malicious links. These links can result in data theft, financial loss, or unauthorized system access.</a:t>
            </a:r>
          </a:p>
          <a:p>
            <a:pPr>
              <a:buFont typeface="Wingdings" panose="05000000000000000000" pitchFamily="2" charset="2"/>
              <a:buChar char="Ø"/>
            </a:pPr>
            <a:r>
              <a:rPr lang="en-GB" sz="1800" dirty="0"/>
              <a:t>Most users are unaware of such threats and lack a simple method to verify link safety. </a:t>
            </a:r>
          </a:p>
          <a:p>
            <a:pPr>
              <a:buFont typeface="Wingdings" panose="05000000000000000000" pitchFamily="2" charset="2"/>
              <a:buChar char="Ø"/>
            </a:pPr>
            <a:r>
              <a:rPr lang="en-GB" sz="1800" dirty="0"/>
              <a:t>There is a strong need for a lightweight, browser-accessible web application that can detect, block, and warn users about phishing links in real time, while also assisting them through a built-in chat-based support system.</a:t>
            </a:r>
          </a:p>
          <a:p>
            <a:pPr>
              <a:buFont typeface="Wingdings" panose="05000000000000000000" pitchFamily="2" charset="2"/>
              <a:buChar char="Ø"/>
            </a:pPr>
            <a:r>
              <a:rPr lang="en-GB" sz="1800" dirty="0"/>
              <a:t>Additionally, many existing solutions are either too complex or require installation, which makes them unsuitable for non-technical or casual users.</a:t>
            </a:r>
          </a:p>
        </p:txBody>
      </p:sp>
      <p:sp>
        <p:nvSpPr>
          <p:cNvPr id="1048614" name="Footer Placeholder 3"/>
          <p:cNvSpPr>
            <a:spLocks noGrp="1"/>
          </p:cNvSpPr>
          <p:nvPr>
            <p:ph type="ftr" sz="quarter" idx="11"/>
          </p:nvPr>
        </p:nvSpPr>
        <p:spPr/>
        <p:txBody>
          <a:bodyPr/>
          <a:lstStyle/>
          <a:p>
            <a:pPr algn="ctr"/>
            <a:r>
              <a:rPr lang="en-US" sz="1400" dirty="0">
                <a:solidFill>
                  <a:schemeClr val="tx1"/>
                </a:solidFill>
              </a:rPr>
              <a:t>Web-Based Phishing Detection System</a:t>
            </a:r>
          </a:p>
        </p:txBody>
      </p:sp>
      <p:sp>
        <p:nvSpPr>
          <p:cNvPr id="1048615" name="Date Placeholder 5"/>
          <p:cNvSpPr>
            <a:spLocks noGrp="1"/>
          </p:cNvSpPr>
          <p:nvPr>
            <p:ph type="dt" sz="half" idx="10"/>
          </p:nvPr>
        </p:nvSpPr>
        <p:spPr/>
        <p:txBody>
          <a:bodyPr/>
          <a:lstStyle/>
          <a:p>
            <a:r>
              <a:rPr lang="en-US" sz="1200"/>
              <a:t>CS-FYP    Hamdard University </a:t>
            </a:r>
            <a:endParaRPr lang="en-US" sz="1200" dirty="0"/>
          </a:p>
        </p:txBody>
      </p:sp>
      <p:sp>
        <p:nvSpPr>
          <p:cNvPr id="1048616" name="Slide Number Placeholder 6"/>
          <p:cNvSpPr>
            <a:spLocks noGrp="1"/>
          </p:cNvSpPr>
          <p:nvPr>
            <p:ph type="sldNum" sz="quarter" idx="12"/>
          </p:nvPr>
        </p:nvSpPr>
        <p:spPr/>
        <p:txBody>
          <a:bodyPr/>
          <a:lstStyle/>
          <a:p>
            <a:fld id="{9EBC64C3-3FC7-4C40-910B-2643F037F02C}" type="slidenum">
              <a:rPr lang="en-US" smtClean="0"/>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Title 1"/>
          <p:cNvSpPr>
            <a:spLocks noGrp="1"/>
          </p:cNvSpPr>
          <p:nvPr>
            <p:ph type="title"/>
          </p:nvPr>
        </p:nvSpPr>
        <p:spPr/>
        <p:txBody>
          <a:bodyPr/>
          <a:lstStyle/>
          <a:p>
            <a:r>
              <a:rPr lang="en-US" dirty="0"/>
              <a:t>Project </a:t>
            </a:r>
            <a:r>
              <a:rPr lang="en-US" b="1" dirty="0"/>
              <a:t>Objectives</a:t>
            </a:r>
          </a:p>
        </p:txBody>
      </p:sp>
      <p:sp>
        <p:nvSpPr>
          <p:cNvPr id="1048618" name="Date Placeholder 2"/>
          <p:cNvSpPr>
            <a:spLocks noGrp="1"/>
          </p:cNvSpPr>
          <p:nvPr>
            <p:ph type="dt" sz="half" idx="10"/>
          </p:nvPr>
        </p:nvSpPr>
        <p:spPr/>
        <p:txBody>
          <a:bodyPr/>
          <a:lstStyle/>
          <a:p>
            <a:r>
              <a:rPr lang="en-US" sz="1200" dirty="0"/>
              <a:t>CS-FYP    </a:t>
            </a:r>
            <a:r>
              <a:rPr lang="en-US" sz="1200" dirty="0" err="1"/>
              <a:t>Hamdard</a:t>
            </a:r>
            <a:r>
              <a:rPr lang="en-US" sz="1200" dirty="0"/>
              <a:t> University </a:t>
            </a:r>
          </a:p>
        </p:txBody>
      </p:sp>
      <p:sp>
        <p:nvSpPr>
          <p:cNvPr id="1048619" name="Footer Placeholder 3"/>
          <p:cNvSpPr>
            <a:spLocks noGrp="1"/>
          </p:cNvSpPr>
          <p:nvPr>
            <p:ph type="ftr" sz="quarter" idx="11"/>
          </p:nvPr>
        </p:nvSpPr>
        <p:spPr/>
        <p:txBody>
          <a:bodyPr/>
          <a:lstStyle/>
          <a:p>
            <a:pPr algn="ctr"/>
            <a:r>
              <a:rPr lang="en-US" sz="1400" dirty="0">
                <a:solidFill>
                  <a:schemeClr val="tx1"/>
                </a:solidFill>
              </a:rPr>
              <a:t>Web-Based Phishing Detection System</a:t>
            </a:r>
          </a:p>
        </p:txBody>
      </p:sp>
      <p:sp>
        <p:nvSpPr>
          <p:cNvPr id="1048620" name="Slide Number Placeholder 4"/>
          <p:cNvSpPr>
            <a:spLocks noGrp="1"/>
          </p:cNvSpPr>
          <p:nvPr>
            <p:ph type="sldNum" sz="quarter" idx="12"/>
          </p:nvPr>
        </p:nvSpPr>
        <p:spPr/>
        <p:txBody>
          <a:bodyPr/>
          <a:lstStyle/>
          <a:p>
            <a:fld id="{9EBC64C3-3FC7-4C40-910B-2643F037F02C}" type="slidenum">
              <a:rPr lang="en-US" smtClean="0"/>
              <a:t>5</a:t>
            </a:fld>
            <a:endParaRPr lang="en-US" dirty="0"/>
          </a:p>
        </p:txBody>
      </p:sp>
      <p:sp>
        <p:nvSpPr>
          <p:cNvPr id="1048621" name="Content Placeholder 5"/>
          <p:cNvSpPr>
            <a:spLocks noGrp="1"/>
          </p:cNvSpPr>
          <p:nvPr>
            <p:ph sz="quarter" idx="1"/>
          </p:nvPr>
        </p:nvSpPr>
        <p:spPr>
          <a:xfrm>
            <a:off x="612648" y="1828800"/>
            <a:ext cx="8153400" cy="4267200"/>
          </a:xfrm>
        </p:spPr>
        <p:txBody>
          <a:bodyPr>
            <a:normAutofit/>
          </a:bodyPr>
          <a:lstStyle/>
          <a:p>
            <a:pPr marL="342900" indent="-342900">
              <a:buFont typeface="+mj-lt"/>
              <a:buAutoNum type="arabicPeriod"/>
            </a:pPr>
            <a:r>
              <a:rPr lang="en-GB" sz="1800" b="1" dirty="0"/>
              <a:t>To Develop a Phishing Link Detection System</a:t>
            </a:r>
            <a:br>
              <a:rPr lang="en-US" sz="1600" dirty="0"/>
            </a:br>
            <a:r>
              <a:rPr lang="en-GB" sz="1600" dirty="0"/>
              <a:t>Build a rule-based web system that can identify suspicious or phishing URLs based on pre-defined patterns and blacklist APIs.</a:t>
            </a:r>
            <a:endParaRPr lang="en-US" sz="1600" dirty="0"/>
          </a:p>
          <a:p>
            <a:pPr marL="342900" indent="-342900">
              <a:buFont typeface="+mj-lt"/>
              <a:buAutoNum type="arabicPeriod"/>
            </a:pPr>
            <a:r>
              <a:rPr lang="en-GB" sz="1800" b="1" dirty="0"/>
              <a:t>To Block Detected Malicious Links</a:t>
            </a:r>
            <a:br>
              <a:rPr lang="en-US" sz="1600" dirty="0"/>
            </a:br>
            <a:r>
              <a:rPr lang="en-GB" sz="1600" dirty="0"/>
              <a:t>Prevent users from accidentally accessing harmful links by blocking them and showing browser-based warning messages</a:t>
            </a:r>
            <a:r>
              <a:rPr lang="en-GB" sz="1000" dirty="0"/>
              <a:t>.</a:t>
            </a:r>
          </a:p>
          <a:p>
            <a:pPr marL="342900" indent="-342900">
              <a:buFont typeface="+mj-lt"/>
              <a:buAutoNum type="arabicPeriod"/>
            </a:pPr>
            <a:r>
              <a:rPr lang="en-GB" sz="1800" b="1" dirty="0"/>
              <a:t>To Provide Real-Time Alerts</a:t>
            </a:r>
            <a:br>
              <a:rPr lang="en-US" sz="1800" dirty="0"/>
            </a:br>
            <a:r>
              <a:rPr lang="en-GB" sz="1600" dirty="0"/>
              <a:t>Notify users instantly when a phishing link is detected through on-screen alerts in the web interface.</a:t>
            </a:r>
          </a:p>
          <a:p>
            <a:pPr marL="342900" indent="-342900">
              <a:buFont typeface="+mj-lt"/>
              <a:buAutoNum type="arabicPeriod"/>
            </a:pPr>
            <a:r>
              <a:rPr lang="en-GB" sz="1800" b="1" dirty="0"/>
              <a:t>To Integrate a </a:t>
            </a:r>
            <a:r>
              <a:rPr lang="en-GB" sz="1800" b="1" dirty="0" err="1"/>
              <a:t>Chatbox</a:t>
            </a:r>
            <a:r>
              <a:rPr lang="en-GB" sz="1800" b="1" dirty="0"/>
              <a:t> for User Support</a:t>
            </a:r>
            <a:br>
              <a:rPr lang="en-US" sz="1800" dirty="0"/>
            </a:br>
            <a:r>
              <a:rPr lang="en-GB" sz="1600" dirty="0"/>
              <a:t>Include a built-in chat feature that assists users by explaining scan results and guiding them on how to stay safe.</a:t>
            </a:r>
          </a:p>
          <a:p>
            <a:pPr marL="342900" indent="-342900">
              <a:buFont typeface="+mj-lt"/>
              <a:buAutoNum type="arabicPeriod"/>
            </a:pPr>
            <a:r>
              <a:rPr lang="en-GB" sz="1800" b="1" dirty="0"/>
              <a:t>To Ensure a User-Friendly Interface</a:t>
            </a:r>
            <a:br>
              <a:rPr lang="en-US" sz="1800" dirty="0"/>
            </a:br>
            <a:r>
              <a:rPr lang="en-GB" sz="1600" dirty="0"/>
              <a:t>Design a clean, responsive, and intuitive web interface that makes link scanning and warnings clear and accessible to all users.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7" name="Title 1"/>
          <p:cNvSpPr>
            <a:spLocks noGrp="1"/>
          </p:cNvSpPr>
          <p:nvPr>
            <p:ph type="title"/>
          </p:nvPr>
        </p:nvSpPr>
        <p:spPr/>
        <p:txBody>
          <a:bodyPr>
            <a:normAutofit/>
          </a:bodyPr>
          <a:lstStyle/>
          <a:p>
            <a:r>
              <a:rPr lang="en-US" dirty="0">
                <a:solidFill>
                  <a:schemeClr val="dk2"/>
                </a:solidFill>
                <a:latin typeface="Twentieth Century"/>
                <a:ea typeface="Twentieth Century"/>
                <a:cs typeface="Twentieth Century"/>
              </a:rPr>
              <a:t>Project </a:t>
            </a:r>
            <a:r>
              <a:rPr lang="en-US" b="1" dirty="0">
                <a:solidFill>
                  <a:schemeClr val="dk2"/>
                </a:solidFill>
                <a:latin typeface="Twentieth Century"/>
                <a:ea typeface="Twentieth Century"/>
                <a:cs typeface="Twentieth Century"/>
              </a:rPr>
              <a:t>Scope</a:t>
            </a:r>
          </a:p>
        </p:txBody>
      </p:sp>
      <p:sp>
        <p:nvSpPr>
          <p:cNvPr id="1048628" name="Content Placeholder 2"/>
          <p:cNvSpPr>
            <a:spLocks noGrp="1"/>
          </p:cNvSpPr>
          <p:nvPr>
            <p:ph sz="quarter" idx="1"/>
          </p:nvPr>
        </p:nvSpPr>
        <p:spPr>
          <a:xfrm>
            <a:off x="505968" y="1676400"/>
            <a:ext cx="8153400" cy="4648201"/>
          </a:xfrm>
        </p:spPr>
        <p:txBody>
          <a:bodyPr>
            <a:noAutofit/>
          </a:bodyPr>
          <a:lstStyle/>
          <a:p>
            <a:r>
              <a:rPr lang="en-GB" sz="1400" dirty="0"/>
              <a:t>The scope of this project is to design and develop a web-based phishing detection system that scans, analyzes, and blocks malicious or suspicious URLs in real-time. </a:t>
            </a:r>
          </a:p>
          <a:p>
            <a:r>
              <a:rPr lang="en-GB" sz="1400" dirty="0"/>
              <a:t>The system will be built using rule-based logic, integrated with blacklist APIs like PhishTank or Google Safe Browsing, and powered by a trained Machine Learning model (Random Forest Classifier) for smarter detection.</a:t>
            </a:r>
          </a:p>
          <a:p>
            <a:r>
              <a:rPr lang="en-GB" sz="1600" b="1" u="sng" dirty="0"/>
              <a:t>Core Features</a:t>
            </a:r>
            <a:r>
              <a:rPr lang="en-GB" sz="1600" dirty="0"/>
              <a:t>:</a:t>
            </a:r>
            <a:br>
              <a:rPr lang="en-GB" sz="1400" dirty="0"/>
            </a:br>
            <a:br>
              <a:rPr lang="en-GB" sz="800" dirty="0"/>
            </a:br>
            <a:r>
              <a:rPr lang="en-GB" sz="1400" dirty="0"/>
              <a:t>1. Detect and block phishing links instantly</a:t>
            </a:r>
            <a:br>
              <a:rPr lang="en-GB" sz="1400" dirty="0"/>
            </a:br>
            <a:r>
              <a:rPr lang="en-GB" sz="1400" dirty="0"/>
              <a:t>2. Display alerts and warnings via the web interface</a:t>
            </a:r>
            <a:br>
              <a:rPr lang="en-GB" sz="1400" dirty="0"/>
            </a:br>
            <a:r>
              <a:rPr lang="en-GB" sz="1400" dirty="0"/>
              <a:t>3. Provide basic support through a built-in chatbot</a:t>
            </a:r>
            <a:br>
              <a:rPr lang="en-GB" sz="1400" dirty="0"/>
            </a:br>
            <a:r>
              <a:rPr lang="en-GB" sz="1400" dirty="0"/>
              <a:t>4. Simple and responsive user interface</a:t>
            </a:r>
            <a:br>
              <a:rPr lang="en-GB" sz="1400" dirty="0"/>
            </a:br>
            <a:r>
              <a:rPr lang="en-GB" sz="1400" dirty="0"/>
              <a:t>5. Python Flask backend with API and ML integration</a:t>
            </a:r>
          </a:p>
          <a:p>
            <a:r>
              <a:rPr lang="en-GB" sz="1600" b="1" u="sng" dirty="0"/>
              <a:t>Scalable &amp; Expandable</a:t>
            </a:r>
            <a:r>
              <a:rPr lang="en-GB" sz="1600" dirty="0"/>
              <a:t>:</a:t>
            </a:r>
            <a:br>
              <a:rPr lang="en-GB" sz="1400" dirty="0"/>
            </a:br>
            <a:br>
              <a:rPr lang="en-GB" sz="800" dirty="0"/>
            </a:br>
            <a:r>
              <a:rPr lang="en-GB" sz="1400" dirty="0"/>
              <a:t>1. Ready for AI chatbot upgrades</a:t>
            </a:r>
            <a:br>
              <a:rPr lang="en-GB" sz="1400" dirty="0"/>
            </a:br>
            <a:r>
              <a:rPr lang="en-GB" sz="1400" dirty="0"/>
              <a:t>2. Can be extended to browser extensions or desktop apps</a:t>
            </a:r>
            <a:br>
              <a:rPr lang="en-GB" sz="1400" dirty="0"/>
            </a:br>
            <a:r>
              <a:rPr lang="en-GB" sz="1400" dirty="0"/>
              <a:t>3. Suitable for use in cybersecurity education and corporate environments</a:t>
            </a:r>
          </a:p>
          <a:p>
            <a:r>
              <a:rPr lang="en-GB" sz="1400" dirty="0"/>
              <a:t>The final system will serve both technical and non-technical users, offering a reliable tool for phishing detection across web environments. The architecture is scalable, allowing future integration with browser extensions, mobile versions, or enterprise-level security suites.</a:t>
            </a:r>
          </a:p>
        </p:txBody>
      </p:sp>
      <p:sp>
        <p:nvSpPr>
          <p:cNvPr id="1048629" name="Footer Placeholder 3"/>
          <p:cNvSpPr>
            <a:spLocks noGrp="1"/>
          </p:cNvSpPr>
          <p:nvPr>
            <p:ph type="ftr" sz="quarter" idx="11"/>
          </p:nvPr>
        </p:nvSpPr>
        <p:spPr/>
        <p:txBody>
          <a:bodyPr/>
          <a:lstStyle/>
          <a:p>
            <a:pPr algn="ctr"/>
            <a:r>
              <a:rPr lang="en-US" sz="1400" dirty="0">
                <a:solidFill>
                  <a:schemeClr val="tx1"/>
                </a:solidFill>
              </a:rPr>
              <a:t>Web-Based Phishing Detection System</a:t>
            </a:r>
          </a:p>
        </p:txBody>
      </p:sp>
      <p:sp>
        <p:nvSpPr>
          <p:cNvPr id="1048630" name="Date Placeholder 5"/>
          <p:cNvSpPr>
            <a:spLocks noGrp="1"/>
          </p:cNvSpPr>
          <p:nvPr>
            <p:ph type="dt" sz="half" idx="10"/>
          </p:nvPr>
        </p:nvSpPr>
        <p:spPr/>
        <p:txBody>
          <a:bodyPr/>
          <a:lstStyle/>
          <a:p>
            <a:r>
              <a:rPr lang="en-US"/>
              <a:t>CS-FYP    Hamdard University </a:t>
            </a:r>
            <a:endParaRPr lang="en-US" dirty="0"/>
          </a:p>
        </p:txBody>
      </p:sp>
      <p:sp>
        <p:nvSpPr>
          <p:cNvPr id="1048631" name="Slide Number Placeholder 6"/>
          <p:cNvSpPr>
            <a:spLocks noGrp="1"/>
          </p:cNvSpPr>
          <p:nvPr>
            <p:ph type="sldNum" sz="quarter" idx="12"/>
          </p:nvPr>
        </p:nvSpPr>
        <p:spPr/>
        <p:txBody>
          <a:bodyPr/>
          <a:lstStyle/>
          <a:p>
            <a:fld id="{9EBC64C3-3FC7-4C40-910B-2643F037F02C}" type="slidenum">
              <a:rPr lang="en-US" smtClean="0"/>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802CE-0868-6324-2D83-906E581BB28D}"/>
            </a:ext>
          </a:extLst>
        </p:cNvPr>
        <p:cNvGrpSpPr/>
        <p:nvPr/>
      </p:nvGrpSpPr>
      <p:grpSpPr>
        <a:xfrm>
          <a:off x="0" y="0"/>
          <a:ext cx="0" cy="0"/>
          <a:chOff x="0" y="0"/>
          <a:chExt cx="0" cy="0"/>
        </a:xfrm>
      </p:grpSpPr>
      <p:sp>
        <p:nvSpPr>
          <p:cNvPr id="1048627" name="Title 1">
            <a:extLst>
              <a:ext uri="{FF2B5EF4-FFF2-40B4-BE49-F238E27FC236}">
                <a16:creationId xmlns:a16="http://schemas.microsoft.com/office/drawing/2014/main" id="{C84A3E3B-D84E-D918-05C7-AD1244955A12}"/>
              </a:ext>
            </a:extLst>
          </p:cNvPr>
          <p:cNvSpPr>
            <a:spLocks noGrp="1"/>
          </p:cNvSpPr>
          <p:nvPr>
            <p:ph type="title"/>
          </p:nvPr>
        </p:nvSpPr>
        <p:spPr/>
        <p:txBody>
          <a:bodyPr>
            <a:normAutofit fontScale="90000"/>
          </a:bodyPr>
          <a:lstStyle/>
          <a:p>
            <a:r>
              <a:rPr lang="en-US" dirty="0">
                <a:solidFill>
                  <a:schemeClr val="dk2"/>
                </a:solidFill>
                <a:latin typeface="Twentieth Century"/>
                <a:ea typeface="Twentieth Century"/>
                <a:cs typeface="Twentieth Century"/>
              </a:rPr>
              <a:t>Comprehensive Literature Review</a:t>
            </a:r>
            <a:endParaRPr lang="en-US" b="1" dirty="0">
              <a:solidFill>
                <a:schemeClr val="dk2"/>
              </a:solidFill>
              <a:latin typeface="Twentieth Century"/>
              <a:ea typeface="Twentieth Century"/>
              <a:cs typeface="Twentieth Century"/>
            </a:endParaRPr>
          </a:p>
        </p:txBody>
      </p:sp>
      <p:sp>
        <p:nvSpPr>
          <p:cNvPr id="1048628" name="Content Placeholder 2">
            <a:extLst>
              <a:ext uri="{FF2B5EF4-FFF2-40B4-BE49-F238E27FC236}">
                <a16:creationId xmlns:a16="http://schemas.microsoft.com/office/drawing/2014/main" id="{991E6893-4CAF-4C5B-594A-24A1B412D169}"/>
              </a:ext>
            </a:extLst>
          </p:cNvPr>
          <p:cNvSpPr>
            <a:spLocks noGrp="1"/>
          </p:cNvSpPr>
          <p:nvPr>
            <p:ph sz="quarter" idx="1"/>
          </p:nvPr>
        </p:nvSpPr>
        <p:spPr>
          <a:xfrm>
            <a:off x="495300" y="1639825"/>
            <a:ext cx="8153400" cy="4724399"/>
          </a:xfrm>
        </p:spPr>
        <p:txBody>
          <a:bodyPr>
            <a:noAutofit/>
          </a:bodyPr>
          <a:lstStyle/>
          <a:p>
            <a:r>
              <a:rPr lang="en-GB" sz="1400" b="1" u="sng" dirty="0"/>
              <a:t>Rule-Based Detection Approaches</a:t>
            </a:r>
            <a:br>
              <a:rPr lang="en-GB" sz="1400" b="1" u="sng" dirty="0"/>
            </a:br>
            <a:r>
              <a:rPr lang="en-GB" sz="1400" dirty="0"/>
              <a:t>Basnet et al. (2015) developed a rule-based phishing detection method by </a:t>
            </a:r>
            <a:r>
              <a:rPr lang="en-GB" sz="1400" dirty="0" err="1"/>
              <a:t>analyzing</a:t>
            </a:r>
            <a:r>
              <a:rPr lang="en-GB" sz="1400" dirty="0"/>
              <a:t> attacker behaviours. Their system achieved 95–99% accuracy with low false positives (0.5–1.5%), supporting the strength of well-designed rule-based systems like ours.</a:t>
            </a:r>
          </a:p>
          <a:p>
            <a:r>
              <a:rPr lang="en-GB" sz="1400" b="1" u="sng" dirty="0"/>
              <a:t>Heuristic and Blacklist Hybrid Schemes</a:t>
            </a:r>
            <a:br>
              <a:rPr lang="en-GB" sz="1400" dirty="0"/>
            </a:br>
            <a:r>
              <a:rPr lang="en-GB" sz="1400" dirty="0"/>
              <a:t>Temple University researchers introduced </a:t>
            </a:r>
            <a:r>
              <a:rPr lang="en-GB" sz="1400" dirty="0" err="1"/>
              <a:t>MobiFish</a:t>
            </a:r>
            <a:r>
              <a:rPr lang="en-GB" sz="1400" dirty="0"/>
              <a:t>, which combined heuristic detection with blacklist checks. Though limited in detecting zero-day attacks, it proved highly effective for known phishing patterns, a lightweight strategy our system builds on.</a:t>
            </a:r>
          </a:p>
          <a:p>
            <a:r>
              <a:rPr lang="en-GB" sz="1400" b="1" u="sng" dirty="0"/>
              <a:t>Rule-Based Web Detection Systems</a:t>
            </a:r>
            <a:br>
              <a:rPr lang="en-GB" sz="1400" dirty="0"/>
            </a:br>
            <a:r>
              <a:rPr lang="en-GB" sz="1400" dirty="0"/>
              <a:t>Gale-sourced research demonstrated that web-based phishing apps using lightweight rule sets can detect malicious URLs efficiently in real-time. These approaches are ideal for browser-based tools like ours due to their speed and simplicity.</a:t>
            </a:r>
          </a:p>
          <a:p>
            <a:r>
              <a:rPr lang="en-GB" sz="1400" b="1" u="sng" dirty="0"/>
              <a:t>Comprehensive Survey of Detection Techniques</a:t>
            </a:r>
            <a:br>
              <a:rPr lang="en-GB" sz="1400" dirty="0"/>
            </a:br>
            <a:r>
              <a:rPr lang="en-GB" sz="1400" dirty="0"/>
              <a:t>Dholakia &amp; Agrawal (2018) concluded that no single solution is universally effective. Rule-based and blacklist systems work well for known threats, but handling complex or zero-day phishing requires machine learning, supporting our inclusion of an ML model.</a:t>
            </a:r>
          </a:p>
          <a:p>
            <a:r>
              <a:rPr lang="en-GB" sz="1400" b="1" u="sng" dirty="0"/>
              <a:t>Rule-Based SMS-Based Detection (Analogous)</a:t>
            </a:r>
            <a:br>
              <a:rPr lang="en-GB" sz="1400" b="1" u="sng" dirty="0"/>
            </a:br>
            <a:r>
              <a:rPr lang="en-GB" sz="1400" dirty="0"/>
              <a:t>Akande et al. (2021) created a smishing detection app using rule-based classifiers (RIPPER, C4.5). While SMS-specific, the detection logic applies to phishing links on the web, especially in systems where low resource use is important.</a:t>
            </a:r>
          </a:p>
        </p:txBody>
      </p:sp>
      <p:sp>
        <p:nvSpPr>
          <p:cNvPr id="1048629" name="Footer Placeholder 3">
            <a:extLst>
              <a:ext uri="{FF2B5EF4-FFF2-40B4-BE49-F238E27FC236}">
                <a16:creationId xmlns:a16="http://schemas.microsoft.com/office/drawing/2014/main" id="{2080D7FA-C1F9-72E0-E940-0E8C2DABA0FE}"/>
              </a:ext>
            </a:extLst>
          </p:cNvPr>
          <p:cNvSpPr>
            <a:spLocks noGrp="1"/>
          </p:cNvSpPr>
          <p:nvPr>
            <p:ph type="ftr" sz="quarter" idx="11"/>
          </p:nvPr>
        </p:nvSpPr>
        <p:spPr/>
        <p:txBody>
          <a:bodyPr/>
          <a:lstStyle/>
          <a:p>
            <a:pPr algn="ctr"/>
            <a:r>
              <a:rPr lang="en-US" sz="1400" dirty="0">
                <a:solidFill>
                  <a:schemeClr val="tx1"/>
                </a:solidFill>
              </a:rPr>
              <a:t>Web-Based Phishing Detection System</a:t>
            </a:r>
          </a:p>
        </p:txBody>
      </p:sp>
      <p:sp>
        <p:nvSpPr>
          <p:cNvPr id="1048630" name="Date Placeholder 5">
            <a:extLst>
              <a:ext uri="{FF2B5EF4-FFF2-40B4-BE49-F238E27FC236}">
                <a16:creationId xmlns:a16="http://schemas.microsoft.com/office/drawing/2014/main" id="{8483FBF4-344E-E7F6-63CC-80F34285BD5D}"/>
              </a:ext>
            </a:extLst>
          </p:cNvPr>
          <p:cNvSpPr>
            <a:spLocks noGrp="1"/>
          </p:cNvSpPr>
          <p:nvPr>
            <p:ph type="dt" sz="half" idx="10"/>
          </p:nvPr>
        </p:nvSpPr>
        <p:spPr/>
        <p:txBody>
          <a:bodyPr/>
          <a:lstStyle/>
          <a:p>
            <a:r>
              <a:rPr lang="en-US"/>
              <a:t>CS-FYP    Hamdard University </a:t>
            </a:r>
            <a:endParaRPr lang="en-US" dirty="0"/>
          </a:p>
        </p:txBody>
      </p:sp>
      <p:sp>
        <p:nvSpPr>
          <p:cNvPr id="1048631" name="Slide Number Placeholder 6">
            <a:extLst>
              <a:ext uri="{FF2B5EF4-FFF2-40B4-BE49-F238E27FC236}">
                <a16:creationId xmlns:a16="http://schemas.microsoft.com/office/drawing/2014/main" id="{0009D25F-63B6-81B0-FFC9-C65567C498E5}"/>
              </a:ext>
            </a:extLst>
          </p:cNvPr>
          <p:cNvSpPr>
            <a:spLocks noGrp="1"/>
          </p:cNvSpPr>
          <p:nvPr>
            <p:ph type="sldNum" sz="quarter" idx="12"/>
          </p:nvPr>
        </p:nvSpPr>
        <p:spPr/>
        <p:txBody>
          <a:bodyPr/>
          <a:lstStyle/>
          <a:p>
            <a:fld id="{9EBC64C3-3FC7-4C40-910B-2643F037F02C}" type="slidenum">
              <a:rPr lang="en-US" smtClean="0"/>
              <a:t>7</a:t>
            </a:fld>
            <a:endParaRPr lang="en-US" dirty="0"/>
          </a:p>
        </p:txBody>
      </p:sp>
    </p:spTree>
    <p:extLst>
      <p:ext uri="{BB962C8B-B14F-4D97-AF65-F5344CB8AC3E}">
        <p14:creationId xmlns:p14="http://schemas.microsoft.com/office/powerpoint/2010/main" val="3372957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2" name="Title 1"/>
          <p:cNvSpPr>
            <a:spLocks noGrp="1"/>
          </p:cNvSpPr>
          <p:nvPr>
            <p:ph type="title"/>
          </p:nvPr>
        </p:nvSpPr>
        <p:spPr/>
        <p:txBody>
          <a:bodyPr>
            <a:normAutofit/>
          </a:bodyPr>
          <a:lstStyle/>
          <a:p>
            <a:r>
              <a:rPr lang="en-US" b="1" dirty="0">
                <a:solidFill>
                  <a:schemeClr val="dk2"/>
                </a:solidFill>
                <a:latin typeface="Twentieth Century"/>
                <a:ea typeface="Twentieth Century"/>
                <a:cs typeface="Twentieth Century"/>
              </a:rPr>
              <a:t>Architecture</a:t>
            </a:r>
            <a:r>
              <a:rPr lang="en-US" dirty="0">
                <a:solidFill>
                  <a:schemeClr val="dk2"/>
                </a:solidFill>
                <a:latin typeface="Twentieth Century"/>
                <a:ea typeface="Twentieth Century"/>
                <a:cs typeface="Twentieth Century"/>
              </a:rPr>
              <a:t> Big Picture</a:t>
            </a:r>
          </a:p>
        </p:txBody>
      </p:sp>
      <p:pic>
        <p:nvPicPr>
          <p:cNvPr id="3" name="Content Placeholder 2" descr="A diagram of a chatbox&#10;&#10;AI-generated content may be incorrect.">
            <a:extLst>
              <a:ext uri="{FF2B5EF4-FFF2-40B4-BE49-F238E27FC236}">
                <a16:creationId xmlns:a16="http://schemas.microsoft.com/office/drawing/2014/main" id="{76262869-E298-C99E-46F8-30BC5CDF5C40}"/>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142998" y="1665550"/>
            <a:ext cx="7086599" cy="4197016"/>
          </a:xfrm>
          <a:ln/>
        </p:spPr>
      </p:pic>
      <p:sp>
        <p:nvSpPr>
          <p:cNvPr id="1048624" name="Footer Placeholder 3"/>
          <p:cNvSpPr>
            <a:spLocks noGrp="1"/>
          </p:cNvSpPr>
          <p:nvPr>
            <p:ph type="ftr" sz="quarter" idx="11"/>
          </p:nvPr>
        </p:nvSpPr>
        <p:spPr/>
        <p:txBody>
          <a:bodyPr/>
          <a:lstStyle/>
          <a:p>
            <a:pPr algn="ctr"/>
            <a:r>
              <a:rPr lang="en-US" sz="1400" dirty="0">
                <a:solidFill>
                  <a:schemeClr val="tx1"/>
                </a:solidFill>
              </a:rPr>
              <a:t>Web-Based Phishing Detection System</a:t>
            </a:r>
          </a:p>
        </p:txBody>
      </p:sp>
      <p:sp>
        <p:nvSpPr>
          <p:cNvPr id="1048625" name="Date Placeholder 5"/>
          <p:cNvSpPr>
            <a:spLocks noGrp="1"/>
          </p:cNvSpPr>
          <p:nvPr>
            <p:ph type="dt" sz="half" idx="10"/>
          </p:nvPr>
        </p:nvSpPr>
        <p:spPr/>
        <p:txBody>
          <a:bodyPr/>
          <a:lstStyle/>
          <a:p>
            <a:r>
              <a:rPr lang="en-US" sz="1200"/>
              <a:t>CS-FYP    Hamdard University </a:t>
            </a:r>
            <a:endParaRPr lang="en-US" sz="1200" dirty="0"/>
          </a:p>
        </p:txBody>
      </p:sp>
      <p:sp>
        <p:nvSpPr>
          <p:cNvPr id="1048626" name="Slide Number Placeholder 6"/>
          <p:cNvSpPr>
            <a:spLocks noGrp="1"/>
          </p:cNvSpPr>
          <p:nvPr>
            <p:ph type="sldNum" sz="quarter" idx="12"/>
          </p:nvPr>
        </p:nvSpPr>
        <p:spPr/>
        <p:txBody>
          <a:bodyPr/>
          <a:lstStyle/>
          <a:p>
            <a:fld id="{9EBC64C3-3FC7-4C40-910B-2643F037F02C}" type="slidenum">
              <a:rPr lang="en-US" smtClean="0"/>
              <a:t>8</a:t>
            </a:fld>
            <a:endParaRPr lang="en-US" dirty="0"/>
          </a:p>
        </p:txBody>
      </p:sp>
      <p:sp>
        <p:nvSpPr>
          <p:cNvPr id="28" name="TextBox 27">
            <a:extLst>
              <a:ext uri="{FF2B5EF4-FFF2-40B4-BE49-F238E27FC236}">
                <a16:creationId xmlns:a16="http://schemas.microsoft.com/office/drawing/2014/main" id="{992F1533-0EF6-1619-2C02-2C3C3490E6D0}"/>
              </a:ext>
            </a:extLst>
          </p:cNvPr>
          <p:cNvSpPr txBox="1"/>
          <p:nvPr/>
        </p:nvSpPr>
        <p:spPr>
          <a:xfrm>
            <a:off x="640081" y="5931342"/>
            <a:ext cx="8101264" cy="369332"/>
          </a:xfrm>
          <a:prstGeom prst="rect">
            <a:avLst/>
          </a:prstGeom>
          <a:noFill/>
        </p:spPr>
        <p:txBody>
          <a:bodyPr wrap="square" rtlCol="0">
            <a:spAutoFit/>
          </a:bodyPr>
          <a:lstStyle/>
          <a:p>
            <a:pPr algn="ctr"/>
            <a:r>
              <a:rPr lang="en-GB" b="1" dirty="0"/>
              <a:t>User → Web-App → Backend API → Detection Engine → Result → </a:t>
            </a:r>
            <a:r>
              <a:rPr lang="en-GB" b="1" dirty="0" err="1"/>
              <a:t>Chatbox</a:t>
            </a:r>
            <a:r>
              <a:rPr lang="en-GB" b="1" dirty="0"/>
              <a:t> + Logs</a:t>
            </a:r>
          </a:p>
        </p:txBody>
      </p:sp>
      <p:sp>
        <p:nvSpPr>
          <p:cNvPr id="6" name="TextBox 5">
            <a:extLst>
              <a:ext uri="{FF2B5EF4-FFF2-40B4-BE49-F238E27FC236}">
                <a16:creationId xmlns:a16="http://schemas.microsoft.com/office/drawing/2014/main" id="{52D6E9F0-7CDF-72C5-9DF2-0F20E85CE7A5}"/>
              </a:ext>
            </a:extLst>
          </p:cNvPr>
          <p:cNvSpPr txBox="1"/>
          <p:nvPr/>
        </p:nvSpPr>
        <p:spPr>
          <a:xfrm>
            <a:off x="1272537" y="1875694"/>
            <a:ext cx="3429000" cy="646331"/>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GB" b="1" dirty="0">
                <a:solidFill>
                  <a:schemeClr val="tx1"/>
                </a:solidFill>
              </a:rPr>
              <a:t>Website Interface Of Web-Based Phishing Detection System</a:t>
            </a:r>
            <a:endParaRPr lang="LID4096" b="1" dirty="0">
              <a:solidFill>
                <a:schemeClr val="tx1"/>
              </a:solidFill>
            </a:endParaRPr>
          </a:p>
        </p:txBody>
      </p:sp>
      <p:pic>
        <p:nvPicPr>
          <p:cNvPr id="8" name="Picture 7">
            <a:extLst>
              <a:ext uri="{FF2B5EF4-FFF2-40B4-BE49-F238E27FC236}">
                <a16:creationId xmlns:a16="http://schemas.microsoft.com/office/drawing/2014/main" id="{26C9627B-A652-65A2-AB78-155C77BB6B6C}"/>
              </a:ext>
            </a:extLst>
          </p:cNvPr>
          <p:cNvPicPr>
            <a:picLocks noChangeAspect="1"/>
          </p:cNvPicPr>
          <p:nvPr/>
        </p:nvPicPr>
        <p:blipFill>
          <a:blip r:embed="rId3"/>
          <a:stretch>
            <a:fillRect/>
          </a:stretch>
        </p:blipFill>
        <p:spPr>
          <a:xfrm>
            <a:off x="1828800" y="2590801"/>
            <a:ext cx="1143000" cy="152399"/>
          </a:xfrm>
          <a:prstGeom prst="rect">
            <a:avLst/>
          </a:prstGeom>
        </p:spPr>
      </p:pic>
      <p:pic>
        <p:nvPicPr>
          <p:cNvPr id="1028" name="Picture 4" descr="Computer Website Account System Svg Png Icon Free Download (#527724) -  OnlineWebFonts.COM">
            <a:extLst>
              <a:ext uri="{FF2B5EF4-FFF2-40B4-BE49-F238E27FC236}">
                <a16:creationId xmlns:a16="http://schemas.microsoft.com/office/drawing/2014/main" id="{1FA94C3D-B704-411D-0B97-6B476419F7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2622151"/>
            <a:ext cx="2219325" cy="199028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9E8F98D-9496-3938-6F47-B3B137DCA663}"/>
              </a:ext>
            </a:extLst>
          </p:cNvPr>
          <p:cNvSpPr txBox="1"/>
          <p:nvPr/>
        </p:nvSpPr>
        <p:spPr>
          <a:xfrm>
            <a:off x="2286000" y="3116296"/>
            <a:ext cx="590226" cy="215444"/>
          </a:xfrm>
          <a:prstGeom prst="rect">
            <a:avLst/>
          </a:prstGeom>
          <a:noFill/>
        </p:spPr>
        <p:txBody>
          <a:bodyPr wrap="none" rtlCol="0">
            <a:spAutoFit/>
          </a:bodyPr>
          <a:lstStyle/>
          <a:p>
            <a:r>
              <a:rPr lang="en-GB" sz="800" dirty="0"/>
              <a:t>Enter Link:</a:t>
            </a:r>
            <a:endParaRPr lang="LID4096" sz="800" dirty="0"/>
          </a:p>
        </p:txBody>
      </p:sp>
      <p:pic>
        <p:nvPicPr>
          <p:cNvPr id="1030" name="Picture 6" descr="Safety icon SVG Vector &amp; PNG Free Download | UXWing">
            <a:extLst>
              <a:ext uri="{FF2B5EF4-FFF2-40B4-BE49-F238E27FC236}">
                <a16:creationId xmlns:a16="http://schemas.microsoft.com/office/drawing/2014/main" id="{F91DCE9C-044D-5E06-3949-69D89330616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05000" y="3344313"/>
            <a:ext cx="267762" cy="29403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AB018EA-EF25-2D34-8AD5-B16A475200A4}"/>
              </a:ext>
            </a:extLst>
          </p:cNvPr>
          <p:cNvSpPr txBox="1"/>
          <p:nvPr/>
        </p:nvSpPr>
        <p:spPr>
          <a:xfrm>
            <a:off x="2362200" y="3628825"/>
            <a:ext cx="788194" cy="169277"/>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500" b="1" dirty="0">
                <a:solidFill>
                  <a:schemeClr val="tx1"/>
                </a:solidFill>
                <a:latin typeface="Aptos Display" panose="020B0004020202020204" pitchFamily="34" charset="0"/>
              </a:rPr>
              <a:t>The Link Is Safe!</a:t>
            </a:r>
            <a:endParaRPr lang="LID4096" sz="500" b="1" dirty="0">
              <a:solidFill>
                <a:schemeClr val="tx1"/>
              </a:solidFill>
              <a:latin typeface="Aptos Display" panose="020B0004020202020204" pitchFamily="34" charset="0"/>
            </a:endParaRPr>
          </a:p>
        </p:txBody>
      </p:sp>
      <p:pic>
        <p:nvPicPr>
          <p:cNvPr id="14" name="Graphic 13" descr="Chat bubble with solid fill">
            <a:extLst>
              <a:ext uri="{FF2B5EF4-FFF2-40B4-BE49-F238E27FC236}">
                <a16:creationId xmlns:a16="http://schemas.microsoft.com/office/drawing/2014/main" id="{726B928E-AE1E-3734-BF37-6A21D5A96C3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98942" y="3798102"/>
            <a:ext cx="171717" cy="1148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2" name="Title 1"/>
          <p:cNvSpPr>
            <a:spLocks noGrp="1"/>
          </p:cNvSpPr>
          <p:nvPr>
            <p:ph type="title"/>
          </p:nvPr>
        </p:nvSpPr>
        <p:spPr/>
        <p:txBody>
          <a:bodyPr>
            <a:normAutofit/>
          </a:bodyPr>
          <a:lstStyle/>
          <a:p>
            <a:r>
              <a:rPr lang="en-US" dirty="0">
                <a:solidFill>
                  <a:schemeClr val="dk2"/>
                </a:solidFill>
                <a:latin typeface="Twentieth Century"/>
                <a:ea typeface="Twentieth Century"/>
                <a:cs typeface="Twentieth Century"/>
                <a:sym typeface="Twentieth Century"/>
              </a:rPr>
              <a:t>Project </a:t>
            </a:r>
            <a:r>
              <a:rPr lang="en-US" b="1" dirty="0">
                <a:solidFill>
                  <a:schemeClr val="dk2"/>
                </a:solidFill>
                <a:latin typeface="Twentieth Century"/>
                <a:ea typeface="Twentieth Century"/>
                <a:cs typeface="Twentieth Century"/>
                <a:sym typeface="Twentieth Century"/>
              </a:rPr>
              <a:t>Methodology</a:t>
            </a:r>
            <a:r>
              <a:rPr lang="en-US" dirty="0">
                <a:solidFill>
                  <a:schemeClr val="dk2"/>
                </a:solidFill>
                <a:latin typeface="Twentieth Century"/>
                <a:ea typeface="Twentieth Century"/>
                <a:cs typeface="Twentieth Century"/>
                <a:sym typeface="Twentieth Century"/>
              </a:rPr>
              <a:t> </a:t>
            </a:r>
          </a:p>
        </p:txBody>
      </p:sp>
      <p:sp>
        <p:nvSpPr>
          <p:cNvPr id="1048633" name="Content Placeholder 2"/>
          <p:cNvSpPr>
            <a:spLocks noGrp="1"/>
          </p:cNvSpPr>
          <p:nvPr>
            <p:ph sz="quarter" idx="1"/>
          </p:nvPr>
        </p:nvSpPr>
        <p:spPr>
          <a:xfrm>
            <a:off x="533400" y="1752600"/>
            <a:ext cx="8302752" cy="4495800"/>
          </a:xfrm>
        </p:spPr>
        <p:txBody>
          <a:bodyPr>
            <a:normAutofit fontScale="65000" lnSpcReduction="20000"/>
          </a:bodyPr>
          <a:lstStyle/>
          <a:p>
            <a:r>
              <a:rPr lang="en-GB" sz="2500" b="1" u="sng" dirty="0"/>
              <a:t>Web-App Development Model: Waterfall Model</a:t>
            </a:r>
            <a:r>
              <a:rPr lang="en-GB" sz="2500" b="1" dirty="0"/>
              <a:t>:</a:t>
            </a:r>
            <a:br>
              <a:rPr lang="en-GB" sz="2500" b="1" dirty="0"/>
            </a:br>
            <a:endParaRPr lang="en-GB" sz="1400" b="1" dirty="0"/>
          </a:p>
          <a:p>
            <a:pPr>
              <a:buFont typeface="Wingdings" panose="05000000000000000000" pitchFamily="2" charset="2"/>
              <a:buChar char="Ø"/>
            </a:pPr>
            <a:r>
              <a:rPr lang="en-GB" sz="2200" dirty="0"/>
              <a:t>We are following the Waterfall Model, which is a linear and sequential software development approach. </a:t>
            </a:r>
          </a:p>
          <a:p>
            <a:pPr>
              <a:buFont typeface="Wingdings" panose="05000000000000000000" pitchFamily="2" charset="2"/>
              <a:buChar char="Ø"/>
            </a:pPr>
            <a:r>
              <a:rPr lang="en-GB" sz="2200" dirty="0"/>
              <a:t>Each phase is completed before moving to the next, ensuring structured development with well-defined deliverables.</a:t>
            </a:r>
          </a:p>
          <a:p>
            <a:endParaRPr lang="en-GB" sz="1700" b="1" dirty="0"/>
          </a:p>
          <a:p>
            <a:r>
              <a:rPr lang="en-GB" sz="2500" b="1" u="sng" dirty="0"/>
              <a:t>Phases of Waterfall in Our Project</a:t>
            </a:r>
            <a:r>
              <a:rPr lang="en-GB" sz="2500" b="1" dirty="0"/>
              <a:t>:</a:t>
            </a:r>
          </a:p>
          <a:p>
            <a:pPr marL="342900" indent="-342900">
              <a:buFont typeface="+mj-lt"/>
              <a:buAutoNum type="arabicPeriod"/>
            </a:pPr>
            <a:r>
              <a:rPr lang="en-GB" sz="2200" b="1" dirty="0"/>
              <a:t>System Design</a:t>
            </a:r>
            <a:r>
              <a:rPr lang="en-GB" sz="2200" dirty="0"/>
              <a:t>: Planned web UI, backend flow, and URL analysis pipeline</a:t>
            </a:r>
          </a:p>
          <a:p>
            <a:pPr marL="342900" indent="-342900">
              <a:buFont typeface="+mj-lt"/>
              <a:buAutoNum type="arabicPeriod"/>
            </a:pPr>
            <a:r>
              <a:rPr lang="en-GB" sz="2200" b="1" dirty="0"/>
              <a:t>Implementation: </a:t>
            </a:r>
            <a:r>
              <a:rPr lang="en-GB" sz="2200" dirty="0"/>
              <a:t>Developed frontend using HTML/CSS/JavaScript and backend using Python (Flask)</a:t>
            </a:r>
          </a:p>
          <a:p>
            <a:pPr marL="342900" indent="-342900">
              <a:buFont typeface="+mj-lt"/>
              <a:buAutoNum type="arabicPeriod"/>
            </a:pPr>
            <a:r>
              <a:rPr lang="en-GB" sz="2200" b="1" dirty="0"/>
              <a:t>Testing</a:t>
            </a:r>
            <a:r>
              <a:rPr lang="en-GB" sz="2200" dirty="0"/>
              <a:t>: Verified phishing detection accuracy and overall web functionality</a:t>
            </a:r>
          </a:p>
          <a:p>
            <a:pPr marL="342900" indent="-342900">
              <a:buFont typeface="+mj-lt"/>
              <a:buAutoNum type="arabicPeriod"/>
            </a:pPr>
            <a:r>
              <a:rPr lang="en-GB" sz="2200" b="1" dirty="0"/>
              <a:t>Deployment</a:t>
            </a:r>
            <a:r>
              <a:rPr lang="en-GB" sz="2200" dirty="0"/>
              <a:t>: Hosted the web app on a local or cloud server for browser access</a:t>
            </a:r>
          </a:p>
          <a:p>
            <a:pPr marL="342900" indent="-342900">
              <a:buFont typeface="+mj-lt"/>
              <a:buAutoNum type="arabicPeriod"/>
            </a:pPr>
            <a:r>
              <a:rPr lang="en-GB" sz="2200" b="1" dirty="0"/>
              <a:t>Maintenance</a:t>
            </a:r>
            <a:r>
              <a:rPr lang="en-GB" sz="2200" dirty="0"/>
              <a:t>: Handled bug fixes and planned feature upgrades (like AI chatbot)</a:t>
            </a:r>
            <a:endParaRPr lang="en-GB" sz="2200" b="1" dirty="0"/>
          </a:p>
          <a:p>
            <a:pPr>
              <a:lnSpc>
                <a:spcPct val="150000"/>
              </a:lnSpc>
            </a:pPr>
            <a:r>
              <a:rPr lang="en-US" sz="2500" b="1" u="sng" dirty="0"/>
              <a:t>WHY</a:t>
            </a:r>
            <a:r>
              <a:rPr lang="en-US" sz="2500" b="1" dirty="0"/>
              <a:t>?</a:t>
            </a:r>
          </a:p>
          <a:p>
            <a:pPr>
              <a:buFont typeface="Wingdings" panose="05000000000000000000" pitchFamily="2" charset="2"/>
              <a:buChar char="Ø"/>
            </a:pPr>
            <a:r>
              <a:rPr lang="en-GB" sz="2200" dirty="0"/>
              <a:t>Simple and easy to understand</a:t>
            </a:r>
          </a:p>
          <a:p>
            <a:pPr>
              <a:buFont typeface="Wingdings" panose="05000000000000000000" pitchFamily="2" charset="2"/>
              <a:buChar char="Ø"/>
            </a:pPr>
            <a:r>
              <a:rPr lang="en-GB" sz="2200" dirty="0"/>
              <a:t>Clearly defined stages and outputs</a:t>
            </a:r>
          </a:p>
          <a:p>
            <a:pPr>
              <a:buFont typeface="Wingdings" panose="05000000000000000000" pitchFamily="2" charset="2"/>
              <a:buChar char="Ø"/>
            </a:pPr>
            <a:r>
              <a:rPr lang="en-GB" sz="2200" dirty="0"/>
              <a:t>Suitable for small, focused projects with stable requirements</a:t>
            </a:r>
          </a:p>
          <a:p>
            <a:pPr>
              <a:buFont typeface="Wingdings" panose="05000000000000000000" pitchFamily="2" charset="2"/>
              <a:buChar char="Ø"/>
            </a:pPr>
            <a:r>
              <a:rPr lang="en-GB" sz="2200" dirty="0"/>
              <a:t>Easy to document and present in university FYP evaluations</a:t>
            </a:r>
          </a:p>
        </p:txBody>
      </p:sp>
      <p:sp>
        <p:nvSpPr>
          <p:cNvPr id="1048634" name="Footer Placeholder 3"/>
          <p:cNvSpPr>
            <a:spLocks noGrp="1"/>
          </p:cNvSpPr>
          <p:nvPr>
            <p:ph type="ftr" sz="quarter" idx="11"/>
          </p:nvPr>
        </p:nvSpPr>
        <p:spPr/>
        <p:txBody>
          <a:bodyPr/>
          <a:lstStyle/>
          <a:p>
            <a:pPr algn="ctr"/>
            <a:r>
              <a:rPr lang="en-US" sz="1400" dirty="0">
                <a:solidFill>
                  <a:schemeClr val="tx1"/>
                </a:solidFill>
              </a:rPr>
              <a:t>Web-Based Phishing Detection System</a:t>
            </a:r>
          </a:p>
        </p:txBody>
      </p:sp>
      <p:sp>
        <p:nvSpPr>
          <p:cNvPr id="1048635" name="Date Placeholder 5"/>
          <p:cNvSpPr>
            <a:spLocks noGrp="1"/>
          </p:cNvSpPr>
          <p:nvPr>
            <p:ph type="dt" sz="half" idx="10"/>
          </p:nvPr>
        </p:nvSpPr>
        <p:spPr/>
        <p:txBody>
          <a:bodyPr/>
          <a:lstStyle/>
          <a:p>
            <a:r>
              <a:rPr lang="en-US" sz="1200"/>
              <a:t>CS-FYP    Hamdard University </a:t>
            </a:r>
            <a:endParaRPr lang="en-US" sz="1200" dirty="0"/>
          </a:p>
        </p:txBody>
      </p:sp>
      <p:sp>
        <p:nvSpPr>
          <p:cNvPr id="1048636" name="Slide Number Placeholder 6"/>
          <p:cNvSpPr>
            <a:spLocks noGrp="1"/>
          </p:cNvSpPr>
          <p:nvPr>
            <p:ph type="sldNum" sz="quarter" idx="12"/>
          </p:nvPr>
        </p:nvSpPr>
        <p:spPr/>
        <p:txBody>
          <a:bodyPr/>
          <a:lstStyle/>
          <a:p>
            <a:fld id="{9EBC64C3-3FC7-4C40-910B-2643F037F02C}" type="slidenum">
              <a:rPr lang="en-US" smtClean="0"/>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7" name="Title 1"/>
          <p:cNvSpPr>
            <a:spLocks noGrp="1"/>
          </p:cNvSpPr>
          <p:nvPr>
            <p:ph type="title"/>
          </p:nvPr>
        </p:nvSpPr>
        <p:spPr/>
        <p:txBody>
          <a:bodyPr>
            <a:normAutofit/>
          </a:bodyPr>
          <a:lstStyle/>
          <a:p>
            <a:r>
              <a:rPr lang="en-US" dirty="0">
                <a:solidFill>
                  <a:schemeClr val="dk2"/>
                </a:solidFill>
                <a:latin typeface="Twentieth Century"/>
                <a:ea typeface="Twentieth Century"/>
                <a:cs typeface="Twentieth Century"/>
              </a:rPr>
              <a:t>Project </a:t>
            </a:r>
            <a:r>
              <a:rPr lang="en-US" b="1" dirty="0"/>
              <a:t>Role</a:t>
            </a:r>
            <a:r>
              <a:rPr lang="en-US" dirty="0"/>
              <a:t> &amp; </a:t>
            </a:r>
            <a:r>
              <a:rPr lang="en-US" b="1" dirty="0"/>
              <a:t>Responsibilities</a:t>
            </a:r>
            <a:r>
              <a:rPr lang="en-US" dirty="0"/>
              <a:t> </a:t>
            </a:r>
            <a:endParaRPr lang="en-US" dirty="0">
              <a:solidFill>
                <a:schemeClr val="dk2"/>
              </a:solidFill>
              <a:latin typeface="Twentieth Century"/>
              <a:ea typeface="Twentieth Century"/>
              <a:cs typeface="Twentieth Century"/>
            </a:endParaRPr>
          </a:p>
        </p:txBody>
      </p:sp>
      <p:sp>
        <p:nvSpPr>
          <p:cNvPr id="1048638" name="Content Placeholder 2"/>
          <p:cNvSpPr>
            <a:spLocks noGrp="1"/>
          </p:cNvSpPr>
          <p:nvPr>
            <p:ph sz="quarter" idx="1"/>
          </p:nvPr>
        </p:nvSpPr>
        <p:spPr/>
        <p:txBody>
          <a:bodyPr>
            <a:noAutofit/>
          </a:bodyPr>
          <a:lstStyle/>
          <a:p>
            <a:pPr algn="just">
              <a:buFont typeface="Wingdings" panose="05000000000000000000" pitchFamily="2" charset="2"/>
              <a:buChar char="q"/>
            </a:pPr>
            <a:r>
              <a:rPr lang="en-US" sz="2400" b="1" dirty="0"/>
              <a:t>RACI Chart</a:t>
            </a:r>
          </a:p>
          <a:p>
            <a:pPr algn="just">
              <a:buFont typeface="Wingdings" panose="05000000000000000000" pitchFamily="2" charset="2"/>
              <a:buChar char="q"/>
            </a:pPr>
            <a:endParaRPr lang="en-US" sz="2800" dirty="0"/>
          </a:p>
          <a:p>
            <a:pPr marL="0" indent="0" algn="just">
              <a:buNone/>
            </a:pPr>
            <a:r>
              <a:rPr lang="en-US" sz="2800" dirty="0"/>
              <a:t>  </a:t>
            </a:r>
          </a:p>
          <a:p>
            <a:pPr marL="0" indent="0" algn="just">
              <a:buNone/>
            </a:pPr>
            <a:endParaRPr lang="en-US" sz="2800" dirty="0"/>
          </a:p>
          <a:p>
            <a:pPr marL="0" indent="0" algn="just">
              <a:buNone/>
            </a:pPr>
            <a:endParaRPr lang="en-US" sz="2800" dirty="0"/>
          </a:p>
          <a:p>
            <a:pPr marL="0" indent="0" algn="just">
              <a:buNone/>
            </a:pPr>
            <a:endParaRPr lang="en-US" sz="2800" dirty="0"/>
          </a:p>
          <a:p>
            <a:pPr marL="0" indent="0" algn="just">
              <a:buNone/>
            </a:pPr>
            <a:endParaRPr lang="en-US" sz="2800" dirty="0"/>
          </a:p>
          <a:p>
            <a:pPr marL="0" indent="0" algn="just">
              <a:buNone/>
            </a:pPr>
            <a:endParaRPr lang="en-US" sz="2800" dirty="0"/>
          </a:p>
          <a:p>
            <a:pPr marL="0" indent="0" algn="just">
              <a:buNone/>
            </a:pPr>
            <a:endParaRPr lang="en-US" sz="2800" dirty="0"/>
          </a:p>
          <a:p>
            <a:pPr marL="0" indent="0" fontAlgn="base">
              <a:buNone/>
            </a:pPr>
            <a:endParaRPr lang="en-US" sz="2200" dirty="0">
              <a:cs typeface="Calibri" panose="020F0502020204030204" pitchFamily="34" charset="0"/>
            </a:endParaRPr>
          </a:p>
        </p:txBody>
      </p:sp>
      <p:sp>
        <p:nvSpPr>
          <p:cNvPr id="1048639" name="Footer Placeholder 3"/>
          <p:cNvSpPr>
            <a:spLocks noGrp="1"/>
          </p:cNvSpPr>
          <p:nvPr>
            <p:ph type="ftr" sz="quarter" idx="11"/>
          </p:nvPr>
        </p:nvSpPr>
        <p:spPr/>
        <p:txBody>
          <a:bodyPr/>
          <a:lstStyle/>
          <a:p>
            <a:pPr algn="ctr"/>
            <a:r>
              <a:rPr lang="en-US" sz="1400" dirty="0">
                <a:solidFill>
                  <a:schemeClr val="tx1"/>
                </a:solidFill>
              </a:rPr>
              <a:t>Web-Based Phishing Detection System</a:t>
            </a:r>
          </a:p>
        </p:txBody>
      </p:sp>
      <p:sp>
        <p:nvSpPr>
          <p:cNvPr id="1048640" name="Date Placeholder 5"/>
          <p:cNvSpPr>
            <a:spLocks noGrp="1"/>
          </p:cNvSpPr>
          <p:nvPr>
            <p:ph type="dt" sz="half" idx="10"/>
          </p:nvPr>
        </p:nvSpPr>
        <p:spPr/>
        <p:txBody>
          <a:bodyPr/>
          <a:lstStyle/>
          <a:p>
            <a:r>
              <a:rPr lang="en-US" sz="1200" dirty="0"/>
              <a:t>CS-FYP</a:t>
            </a:r>
            <a:r>
              <a:rPr lang="en-US" dirty="0"/>
              <a:t>    </a:t>
            </a:r>
            <a:r>
              <a:rPr lang="en-US" dirty="0" err="1"/>
              <a:t>Hamdard</a:t>
            </a:r>
            <a:r>
              <a:rPr lang="en-US" dirty="0"/>
              <a:t> University </a:t>
            </a:r>
          </a:p>
        </p:txBody>
      </p:sp>
      <p:sp>
        <p:nvSpPr>
          <p:cNvPr id="1048641" name="Slide Number Placeholder 6"/>
          <p:cNvSpPr>
            <a:spLocks noGrp="1"/>
          </p:cNvSpPr>
          <p:nvPr>
            <p:ph type="sldNum" sz="quarter" idx="12"/>
          </p:nvPr>
        </p:nvSpPr>
        <p:spPr/>
        <p:txBody>
          <a:bodyPr/>
          <a:lstStyle/>
          <a:p>
            <a:fld id="{9EBC64C3-3FC7-4C40-910B-2643F037F02C}" type="slidenum">
              <a:rPr lang="en-US" smtClean="0"/>
              <a:t>10</a:t>
            </a:fld>
            <a:endParaRPr lang="en-US" dirty="0"/>
          </a:p>
        </p:txBody>
      </p:sp>
      <p:graphicFrame>
        <p:nvGraphicFramePr>
          <p:cNvPr id="2" name="Table 1">
            <a:extLst>
              <a:ext uri="{FF2B5EF4-FFF2-40B4-BE49-F238E27FC236}">
                <a16:creationId xmlns:a16="http://schemas.microsoft.com/office/drawing/2014/main" id="{A2C772E6-85A6-ADDB-FB3F-1EC35B9AF341}"/>
              </a:ext>
            </a:extLst>
          </p:cNvPr>
          <p:cNvGraphicFramePr>
            <a:graphicFrameLocks noGrp="1"/>
          </p:cNvGraphicFramePr>
          <p:nvPr>
            <p:extLst>
              <p:ext uri="{D42A27DB-BD31-4B8C-83A1-F6EECF244321}">
                <p14:modId xmlns:p14="http://schemas.microsoft.com/office/powerpoint/2010/main" val="648744398"/>
              </p:ext>
            </p:extLst>
          </p:nvPr>
        </p:nvGraphicFramePr>
        <p:xfrm>
          <a:off x="762000" y="2133599"/>
          <a:ext cx="8001002" cy="3977640"/>
        </p:xfrm>
        <a:graphic>
          <a:graphicData uri="http://schemas.openxmlformats.org/drawingml/2006/table">
            <a:tbl>
              <a:tblPr firstRow="1" bandRow="1">
                <a:tableStyleId>{5C22544A-7EE6-4342-B048-85BDC9FD1C3A}</a:tableStyleId>
              </a:tblPr>
              <a:tblGrid>
                <a:gridCol w="3184072">
                  <a:extLst>
                    <a:ext uri="{9D8B030D-6E8A-4147-A177-3AD203B41FA5}">
                      <a16:colId xmlns:a16="http://schemas.microsoft.com/office/drawing/2014/main" val="130597002"/>
                    </a:ext>
                  </a:extLst>
                </a:gridCol>
                <a:gridCol w="1551215">
                  <a:extLst>
                    <a:ext uri="{9D8B030D-6E8A-4147-A177-3AD203B41FA5}">
                      <a16:colId xmlns:a16="http://schemas.microsoft.com/office/drawing/2014/main" val="4263064774"/>
                    </a:ext>
                  </a:extLst>
                </a:gridCol>
                <a:gridCol w="1061358">
                  <a:extLst>
                    <a:ext uri="{9D8B030D-6E8A-4147-A177-3AD203B41FA5}">
                      <a16:colId xmlns:a16="http://schemas.microsoft.com/office/drawing/2014/main" val="3123165476"/>
                    </a:ext>
                  </a:extLst>
                </a:gridCol>
                <a:gridCol w="979714">
                  <a:extLst>
                    <a:ext uri="{9D8B030D-6E8A-4147-A177-3AD203B41FA5}">
                      <a16:colId xmlns:a16="http://schemas.microsoft.com/office/drawing/2014/main" val="2899658936"/>
                    </a:ext>
                  </a:extLst>
                </a:gridCol>
                <a:gridCol w="1224643">
                  <a:extLst>
                    <a:ext uri="{9D8B030D-6E8A-4147-A177-3AD203B41FA5}">
                      <a16:colId xmlns:a16="http://schemas.microsoft.com/office/drawing/2014/main" val="3636351512"/>
                    </a:ext>
                  </a:extLst>
                </a:gridCol>
              </a:tblGrid>
              <a:tr h="348878">
                <a:tc>
                  <a:txBody>
                    <a:bodyPr/>
                    <a:lstStyle/>
                    <a:p>
                      <a:pPr algn="ctr"/>
                      <a:r>
                        <a:rPr lang="en-GB" dirty="0">
                          <a:solidFill>
                            <a:schemeClr val="tx1"/>
                          </a:solidFill>
                        </a:rPr>
                        <a:t>Modules</a:t>
                      </a:r>
                      <a:endParaRPr lang="LID4096" dirty="0">
                        <a:solidFill>
                          <a:schemeClr val="tx1"/>
                        </a:solidFill>
                      </a:endParaRPr>
                    </a:p>
                  </a:txBody>
                  <a:tcPr anchor="ctr"/>
                </a:tc>
                <a:tc>
                  <a:txBody>
                    <a:bodyPr/>
                    <a:lstStyle/>
                    <a:p>
                      <a:pPr algn="ctr"/>
                      <a:r>
                        <a:rPr lang="en-GB" dirty="0">
                          <a:solidFill>
                            <a:schemeClr val="tx1"/>
                          </a:solidFill>
                        </a:rPr>
                        <a:t>Supervisor</a:t>
                      </a:r>
                      <a:endParaRPr lang="LID4096" dirty="0">
                        <a:solidFill>
                          <a:schemeClr val="tx1"/>
                        </a:solidFill>
                      </a:endParaRPr>
                    </a:p>
                  </a:txBody>
                  <a:tcPr anchor="ctr"/>
                </a:tc>
                <a:tc>
                  <a:txBody>
                    <a:bodyPr/>
                    <a:lstStyle/>
                    <a:p>
                      <a:pPr algn="ctr"/>
                      <a:r>
                        <a:rPr lang="en-GB" dirty="0" err="1">
                          <a:solidFill>
                            <a:schemeClr val="tx1"/>
                          </a:solidFill>
                        </a:rPr>
                        <a:t>Ibtehaj</a:t>
                      </a:r>
                      <a:endParaRPr lang="LID4096" dirty="0">
                        <a:solidFill>
                          <a:schemeClr val="tx1"/>
                        </a:solidFill>
                      </a:endParaRPr>
                    </a:p>
                  </a:txBody>
                  <a:tcPr anchor="ctr"/>
                </a:tc>
                <a:tc>
                  <a:txBody>
                    <a:bodyPr/>
                    <a:lstStyle/>
                    <a:p>
                      <a:pPr algn="ctr"/>
                      <a:r>
                        <a:rPr lang="en-GB" dirty="0">
                          <a:solidFill>
                            <a:schemeClr val="tx1"/>
                          </a:solidFill>
                        </a:rPr>
                        <a:t>Zaid</a:t>
                      </a:r>
                      <a:endParaRPr lang="LID4096" dirty="0">
                        <a:solidFill>
                          <a:schemeClr val="tx1"/>
                        </a:solidFill>
                      </a:endParaRPr>
                    </a:p>
                  </a:txBody>
                  <a:tcPr anchor="ctr"/>
                </a:tc>
                <a:tc>
                  <a:txBody>
                    <a:bodyPr/>
                    <a:lstStyle/>
                    <a:p>
                      <a:pPr algn="ctr"/>
                      <a:r>
                        <a:rPr lang="en-GB" dirty="0" err="1">
                          <a:solidFill>
                            <a:schemeClr val="tx1"/>
                          </a:solidFill>
                        </a:rPr>
                        <a:t>Azaan</a:t>
                      </a:r>
                      <a:endParaRPr lang="LID4096" dirty="0">
                        <a:solidFill>
                          <a:schemeClr val="tx1"/>
                        </a:solidFill>
                      </a:endParaRPr>
                    </a:p>
                  </a:txBody>
                  <a:tcPr anchor="ctr"/>
                </a:tc>
                <a:extLst>
                  <a:ext uri="{0D108BD9-81ED-4DB2-BD59-A6C34878D82A}">
                    <a16:rowId xmlns:a16="http://schemas.microsoft.com/office/drawing/2014/main" val="2053527002"/>
                  </a:ext>
                </a:extLst>
              </a:tr>
              <a:tr h="401282">
                <a:tc>
                  <a:txBody>
                    <a:bodyPr/>
                    <a:lstStyle/>
                    <a:p>
                      <a:pPr rtl="0" fontAlgn="t">
                        <a:spcBef>
                          <a:spcPts val="0"/>
                        </a:spcBef>
                        <a:spcAft>
                          <a:spcPts val="0"/>
                        </a:spcAft>
                      </a:pPr>
                      <a:r>
                        <a:rPr lang="en-GB" sz="1800" b="0" i="0" u="none" strike="noStrike" dirty="0">
                          <a:solidFill>
                            <a:srgbClr val="000000"/>
                          </a:solidFill>
                          <a:effectLst/>
                          <a:latin typeface="+mn-lt"/>
                        </a:rPr>
                        <a:t>Proposal &amp; Project Planning</a:t>
                      </a:r>
                      <a:endParaRPr lang="en-GB" sz="1800" dirty="0">
                        <a:effectLst/>
                        <a:latin typeface="+mn-lt"/>
                      </a:endParaRPr>
                    </a:p>
                  </a:txBody>
                  <a:tcPr marL="63500" marR="63500" marT="63500" marB="63500"/>
                </a:tc>
                <a:tc>
                  <a:txBody>
                    <a:bodyPr/>
                    <a:lstStyle/>
                    <a:p>
                      <a:r>
                        <a:rPr lang="en-GB" dirty="0"/>
                        <a:t>C, I</a:t>
                      </a:r>
                      <a:endParaRPr lang="LID4096" dirty="0"/>
                    </a:p>
                  </a:txBody>
                  <a:tcPr anchor="ctr"/>
                </a:tc>
                <a:tc>
                  <a:txBody>
                    <a:bodyPr/>
                    <a:lstStyle/>
                    <a:p>
                      <a:r>
                        <a:rPr lang="en-GB" dirty="0"/>
                        <a:t>A, R</a:t>
                      </a:r>
                      <a:endParaRPr lang="LID4096" dirty="0"/>
                    </a:p>
                  </a:txBody>
                  <a:tcPr anchor="ctr"/>
                </a:tc>
                <a:tc>
                  <a:txBody>
                    <a:bodyPr/>
                    <a:lstStyle/>
                    <a:p>
                      <a:r>
                        <a:rPr lang="en-GB" dirty="0"/>
                        <a:t>R</a:t>
                      </a:r>
                      <a:endParaRPr lang="LID4096" dirty="0"/>
                    </a:p>
                  </a:txBody>
                  <a:tcPr anchor="ctr"/>
                </a:tc>
                <a:tc>
                  <a:txBody>
                    <a:bodyPr/>
                    <a:lstStyle/>
                    <a:p>
                      <a:r>
                        <a:rPr lang="en-GB" dirty="0"/>
                        <a:t>A</a:t>
                      </a:r>
                      <a:endParaRPr lang="LID4096" dirty="0"/>
                    </a:p>
                  </a:txBody>
                  <a:tcPr anchor="ctr"/>
                </a:tc>
                <a:extLst>
                  <a:ext uri="{0D108BD9-81ED-4DB2-BD59-A6C34878D82A}">
                    <a16:rowId xmlns:a16="http://schemas.microsoft.com/office/drawing/2014/main" val="3085038640"/>
                  </a:ext>
                </a:extLst>
              </a:tr>
              <a:tr h="348878">
                <a:tc>
                  <a:txBody>
                    <a:bodyPr/>
                    <a:lstStyle/>
                    <a:p>
                      <a:pPr rtl="0" fontAlgn="t">
                        <a:spcBef>
                          <a:spcPts val="0"/>
                        </a:spcBef>
                        <a:spcAft>
                          <a:spcPts val="0"/>
                        </a:spcAft>
                      </a:pPr>
                      <a:r>
                        <a:rPr lang="en-GB" sz="1800" b="0" i="0" u="none" strike="noStrike" dirty="0">
                          <a:solidFill>
                            <a:srgbClr val="000000"/>
                          </a:solidFill>
                          <a:effectLst/>
                          <a:latin typeface="+mn-lt"/>
                        </a:rPr>
                        <a:t>Literature Review</a:t>
                      </a:r>
                      <a:endParaRPr lang="en-GB" sz="1800" dirty="0">
                        <a:effectLst/>
                        <a:latin typeface="+mn-lt"/>
                      </a:endParaRPr>
                    </a:p>
                  </a:txBody>
                  <a:tcPr marL="63500" marR="63500" marT="63500" marB="63500"/>
                </a:tc>
                <a:tc>
                  <a:txBody>
                    <a:bodyPr/>
                    <a:lstStyle/>
                    <a:p>
                      <a:r>
                        <a:rPr lang="en-GB" dirty="0"/>
                        <a:t>C, I</a:t>
                      </a:r>
                      <a:endParaRPr lang="LID4096" dirty="0"/>
                    </a:p>
                  </a:txBody>
                  <a:tcPr anchor="ctr"/>
                </a:tc>
                <a:tc>
                  <a:txBody>
                    <a:bodyPr/>
                    <a:lstStyle/>
                    <a:p>
                      <a:r>
                        <a:rPr lang="en-GB" dirty="0"/>
                        <a:t>R</a:t>
                      </a:r>
                      <a:endParaRPr lang="LID4096" dirty="0"/>
                    </a:p>
                  </a:txBody>
                  <a:tcPr anchor="ctr"/>
                </a:tc>
                <a:tc>
                  <a:txBody>
                    <a:bodyPr/>
                    <a:lstStyle/>
                    <a:p>
                      <a:r>
                        <a:rPr lang="en-GB" dirty="0"/>
                        <a:t>A</a:t>
                      </a:r>
                      <a:endParaRPr lang="LID4096" dirty="0"/>
                    </a:p>
                  </a:txBody>
                  <a:tcPr anchor="ctr"/>
                </a:tc>
                <a:tc>
                  <a:txBody>
                    <a:bodyPr/>
                    <a:lstStyle/>
                    <a:p>
                      <a:r>
                        <a:rPr lang="en-GB" dirty="0"/>
                        <a:t>A, R</a:t>
                      </a:r>
                      <a:endParaRPr lang="LID4096" dirty="0"/>
                    </a:p>
                  </a:txBody>
                  <a:tcPr anchor="ctr"/>
                </a:tc>
                <a:extLst>
                  <a:ext uri="{0D108BD9-81ED-4DB2-BD59-A6C34878D82A}">
                    <a16:rowId xmlns:a16="http://schemas.microsoft.com/office/drawing/2014/main" val="1728650052"/>
                  </a:ext>
                </a:extLst>
              </a:tr>
              <a:tr h="351224">
                <a:tc>
                  <a:txBody>
                    <a:bodyPr/>
                    <a:lstStyle/>
                    <a:p>
                      <a:pPr rtl="0" fontAlgn="t">
                        <a:spcBef>
                          <a:spcPts val="0"/>
                        </a:spcBef>
                        <a:spcAft>
                          <a:spcPts val="0"/>
                        </a:spcAft>
                      </a:pPr>
                      <a:r>
                        <a:rPr lang="en-GB" sz="1800" b="0" i="0" u="none" strike="noStrike" dirty="0">
                          <a:solidFill>
                            <a:srgbClr val="000000"/>
                          </a:solidFill>
                          <a:effectLst/>
                          <a:latin typeface="+mn-lt"/>
                        </a:rPr>
                        <a:t>UI Design (Web Frontend)</a:t>
                      </a:r>
                      <a:endParaRPr lang="en-GB" sz="1800" dirty="0">
                        <a:effectLst/>
                        <a:latin typeface="+mn-lt"/>
                      </a:endParaRPr>
                    </a:p>
                  </a:txBody>
                  <a:tcPr marL="63500" marR="63500" marT="63500" marB="63500"/>
                </a:tc>
                <a:tc>
                  <a:txBody>
                    <a:bodyPr/>
                    <a:lstStyle/>
                    <a:p>
                      <a:r>
                        <a:rPr lang="en-GB" dirty="0"/>
                        <a:t>C</a:t>
                      </a:r>
                      <a:endParaRPr lang="LID4096" dirty="0"/>
                    </a:p>
                  </a:txBody>
                  <a:tcPr anchor="ctr"/>
                </a:tc>
                <a:tc>
                  <a:txBody>
                    <a:bodyPr/>
                    <a:lstStyle/>
                    <a:p>
                      <a:r>
                        <a:rPr lang="en-GB" dirty="0"/>
                        <a:t>A</a:t>
                      </a:r>
                      <a:endParaRPr lang="LID4096" dirty="0"/>
                    </a:p>
                  </a:txBody>
                  <a:tcPr anchor="ctr"/>
                </a:tc>
                <a:tc>
                  <a:txBody>
                    <a:bodyPr/>
                    <a:lstStyle/>
                    <a:p>
                      <a:r>
                        <a:rPr lang="en-GB" dirty="0"/>
                        <a:t>R</a:t>
                      </a:r>
                      <a:endParaRPr lang="LID4096" dirty="0"/>
                    </a:p>
                  </a:txBody>
                  <a:tcPr anchor="ctr"/>
                </a:tc>
                <a:tc>
                  <a:txBody>
                    <a:bodyPr/>
                    <a:lstStyle/>
                    <a:p>
                      <a:r>
                        <a:rPr lang="en-GB" dirty="0"/>
                        <a:t>R</a:t>
                      </a:r>
                      <a:endParaRPr lang="LID4096" dirty="0"/>
                    </a:p>
                  </a:txBody>
                  <a:tcPr anchor="ctr"/>
                </a:tc>
                <a:extLst>
                  <a:ext uri="{0D108BD9-81ED-4DB2-BD59-A6C34878D82A}">
                    <a16:rowId xmlns:a16="http://schemas.microsoft.com/office/drawing/2014/main" val="2479039918"/>
                  </a:ext>
                </a:extLst>
              </a:tr>
              <a:tr h="401282">
                <a:tc>
                  <a:txBody>
                    <a:bodyPr/>
                    <a:lstStyle/>
                    <a:p>
                      <a:pPr rtl="0" fontAlgn="t">
                        <a:spcBef>
                          <a:spcPts val="0"/>
                        </a:spcBef>
                        <a:spcAft>
                          <a:spcPts val="0"/>
                        </a:spcAft>
                      </a:pPr>
                      <a:r>
                        <a:rPr lang="en-GB" sz="1800" b="0" i="0" u="none" strike="noStrike">
                          <a:solidFill>
                            <a:srgbClr val="000000"/>
                          </a:solidFill>
                          <a:effectLst/>
                          <a:latin typeface="+mn-lt"/>
                        </a:rPr>
                        <a:t>Rule-Based Detection Logic</a:t>
                      </a:r>
                      <a:endParaRPr lang="en-GB" sz="1800">
                        <a:effectLst/>
                        <a:latin typeface="+mn-lt"/>
                      </a:endParaRPr>
                    </a:p>
                  </a:txBody>
                  <a:tcPr marL="63500" marR="63500" marT="63500" marB="63500"/>
                </a:tc>
                <a:tc>
                  <a:txBody>
                    <a:bodyPr/>
                    <a:lstStyle/>
                    <a:p>
                      <a:r>
                        <a:rPr lang="en-GB" dirty="0"/>
                        <a:t>C, I</a:t>
                      </a:r>
                      <a:endParaRPr lang="LID4096" dirty="0"/>
                    </a:p>
                  </a:txBody>
                  <a:tcPr anchor="ctr"/>
                </a:tc>
                <a:tc>
                  <a:txBody>
                    <a:bodyPr/>
                    <a:lstStyle/>
                    <a:p>
                      <a:r>
                        <a:rPr lang="en-GB" dirty="0"/>
                        <a:t>R</a:t>
                      </a:r>
                      <a:endParaRPr lang="LID4096" dirty="0"/>
                    </a:p>
                  </a:txBody>
                  <a:tcPr anchor="ctr"/>
                </a:tc>
                <a:tc>
                  <a:txBody>
                    <a:bodyPr/>
                    <a:lstStyle/>
                    <a:p>
                      <a:r>
                        <a:rPr lang="en-GB" dirty="0"/>
                        <a:t>A, R</a:t>
                      </a:r>
                      <a:endParaRPr lang="LID4096" dirty="0"/>
                    </a:p>
                  </a:txBody>
                  <a:tcPr anchor="ctr"/>
                </a:tc>
                <a:tc>
                  <a:txBody>
                    <a:bodyPr/>
                    <a:lstStyle/>
                    <a:p>
                      <a:r>
                        <a:rPr lang="en-GB" dirty="0"/>
                        <a:t>A</a:t>
                      </a:r>
                      <a:endParaRPr lang="LID4096" dirty="0"/>
                    </a:p>
                  </a:txBody>
                  <a:tcPr anchor="ctr"/>
                </a:tc>
                <a:extLst>
                  <a:ext uri="{0D108BD9-81ED-4DB2-BD59-A6C34878D82A}">
                    <a16:rowId xmlns:a16="http://schemas.microsoft.com/office/drawing/2014/main" val="901152291"/>
                  </a:ext>
                </a:extLst>
              </a:tr>
              <a:tr h="401282">
                <a:tc>
                  <a:txBody>
                    <a:bodyPr/>
                    <a:lstStyle/>
                    <a:p>
                      <a:pPr rtl="0" fontAlgn="t">
                        <a:spcBef>
                          <a:spcPts val="0"/>
                        </a:spcBef>
                        <a:spcAft>
                          <a:spcPts val="0"/>
                        </a:spcAft>
                      </a:pPr>
                      <a:r>
                        <a:rPr lang="en-GB" sz="1800" b="0" i="0" u="none" strike="noStrike">
                          <a:solidFill>
                            <a:srgbClr val="000000"/>
                          </a:solidFill>
                          <a:effectLst/>
                          <a:latin typeface="+mn-lt"/>
                        </a:rPr>
                        <a:t>Blacklist &amp; Heuristic Integration</a:t>
                      </a:r>
                      <a:endParaRPr lang="en-GB" sz="1800">
                        <a:effectLst/>
                        <a:latin typeface="+mn-lt"/>
                      </a:endParaRPr>
                    </a:p>
                  </a:txBody>
                  <a:tcPr marL="63500" marR="63500" marT="63500" marB="63500"/>
                </a:tc>
                <a:tc>
                  <a:txBody>
                    <a:bodyPr/>
                    <a:lstStyle/>
                    <a:p>
                      <a:r>
                        <a:rPr lang="en-GB" dirty="0"/>
                        <a:t>I</a:t>
                      </a:r>
                      <a:endParaRPr lang="LID4096" dirty="0"/>
                    </a:p>
                  </a:txBody>
                  <a:tcPr anchor="ctr"/>
                </a:tc>
                <a:tc>
                  <a:txBody>
                    <a:bodyPr/>
                    <a:lstStyle/>
                    <a:p>
                      <a:r>
                        <a:rPr lang="en-GB" dirty="0"/>
                        <a:t>A, R</a:t>
                      </a:r>
                      <a:endParaRPr lang="LID4096" dirty="0"/>
                    </a:p>
                  </a:txBody>
                  <a:tcPr anchor="ctr"/>
                </a:tc>
                <a:tc>
                  <a:txBody>
                    <a:bodyPr/>
                    <a:lstStyle/>
                    <a:p>
                      <a:r>
                        <a:rPr lang="en-GB" dirty="0"/>
                        <a:t>A</a:t>
                      </a:r>
                      <a:endParaRPr lang="LID4096" dirty="0"/>
                    </a:p>
                  </a:txBody>
                  <a:tcPr anchor="ctr"/>
                </a:tc>
                <a:tc>
                  <a:txBody>
                    <a:bodyPr/>
                    <a:lstStyle/>
                    <a:p>
                      <a:r>
                        <a:rPr lang="en-GB" dirty="0"/>
                        <a:t>R</a:t>
                      </a:r>
                      <a:endParaRPr lang="LID4096" dirty="0"/>
                    </a:p>
                  </a:txBody>
                  <a:tcPr anchor="ctr"/>
                </a:tc>
                <a:extLst>
                  <a:ext uri="{0D108BD9-81ED-4DB2-BD59-A6C34878D82A}">
                    <a16:rowId xmlns:a16="http://schemas.microsoft.com/office/drawing/2014/main" val="938546437"/>
                  </a:ext>
                </a:extLst>
              </a:tr>
              <a:tr h="401282">
                <a:tc>
                  <a:txBody>
                    <a:bodyPr/>
                    <a:lstStyle/>
                    <a:p>
                      <a:pPr rtl="0" fontAlgn="t">
                        <a:spcBef>
                          <a:spcPts val="0"/>
                        </a:spcBef>
                        <a:spcAft>
                          <a:spcPts val="0"/>
                        </a:spcAft>
                      </a:pPr>
                      <a:r>
                        <a:rPr lang="en-GB" sz="1800" b="0" i="0" u="none" strike="noStrike">
                          <a:solidFill>
                            <a:srgbClr val="000000"/>
                          </a:solidFill>
                          <a:effectLst/>
                          <a:latin typeface="+mn-lt"/>
                        </a:rPr>
                        <a:t>Python API - Frontend Comm.</a:t>
                      </a:r>
                      <a:endParaRPr lang="en-GB" sz="1800">
                        <a:effectLst/>
                        <a:latin typeface="+mn-lt"/>
                      </a:endParaRPr>
                    </a:p>
                  </a:txBody>
                  <a:tcPr marL="63500" marR="63500" marT="63500" marB="63500"/>
                </a:tc>
                <a:tc>
                  <a:txBody>
                    <a:bodyPr/>
                    <a:lstStyle/>
                    <a:p>
                      <a:r>
                        <a:rPr lang="en-GB" dirty="0"/>
                        <a:t>C, I</a:t>
                      </a:r>
                      <a:endParaRPr lang="LID4096" dirty="0"/>
                    </a:p>
                  </a:txBody>
                  <a:tcPr anchor="ctr"/>
                </a:tc>
                <a:tc>
                  <a:txBody>
                    <a:bodyPr/>
                    <a:lstStyle/>
                    <a:p>
                      <a:r>
                        <a:rPr lang="en-GB" dirty="0"/>
                        <a:t>A, R</a:t>
                      </a:r>
                      <a:endParaRPr lang="LID4096" dirty="0"/>
                    </a:p>
                  </a:txBody>
                  <a:tcPr anchor="ctr"/>
                </a:tc>
                <a:tc>
                  <a:txBody>
                    <a:bodyPr/>
                    <a:lstStyle/>
                    <a:p>
                      <a:r>
                        <a:rPr lang="en-GB" dirty="0"/>
                        <a:t>R</a:t>
                      </a:r>
                      <a:endParaRPr lang="LID4096" dirty="0"/>
                    </a:p>
                  </a:txBody>
                  <a:tcPr anchor="ctr"/>
                </a:tc>
                <a:tc>
                  <a:txBody>
                    <a:bodyPr/>
                    <a:lstStyle/>
                    <a:p>
                      <a:r>
                        <a:rPr lang="en-GB" dirty="0"/>
                        <a:t>A</a:t>
                      </a:r>
                      <a:endParaRPr lang="LID4096" dirty="0"/>
                    </a:p>
                  </a:txBody>
                  <a:tcPr anchor="ctr"/>
                </a:tc>
                <a:extLst>
                  <a:ext uri="{0D108BD9-81ED-4DB2-BD59-A6C34878D82A}">
                    <a16:rowId xmlns:a16="http://schemas.microsoft.com/office/drawing/2014/main" val="381139513"/>
                  </a:ext>
                </a:extLst>
              </a:tr>
              <a:tr h="348878">
                <a:tc>
                  <a:txBody>
                    <a:bodyPr/>
                    <a:lstStyle/>
                    <a:p>
                      <a:pPr rtl="0" fontAlgn="t">
                        <a:spcBef>
                          <a:spcPts val="0"/>
                        </a:spcBef>
                        <a:spcAft>
                          <a:spcPts val="0"/>
                        </a:spcAft>
                      </a:pPr>
                      <a:r>
                        <a:rPr lang="en-GB" sz="1800" b="0" i="0" u="none" strike="noStrike">
                          <a:solidFill>
                            <a:srgbClr val="000000"/>
                          </a:solidFill>
                          <a:effectLst/>
                          <a:latin typeface="+mn-lt"/>
                        </a:rPr>
                        <a:t>Web App Testing &amp; Debugging</a:t>
                      </a:r>
                      <a:endParaRPr lang="en-GB" sz="1800">
                        <a:effectLst/>
                        <a:latin typeface="+mn-lt"/>
                      </a:endParaRPr>
                    </a:p>
                  </a:txBody>
                  <a:tcPr marL="63500" marR="63500" marT="63500" marB="63500"/>
                </a:tc>
                <a:tc>
                  <a:txBody>
                    <a:bodyPr/>
                    <a:lstStyle/>
                    <a:p>
                      <a:r>
                        <a:rPr lang="en-GB" dirty="0"/>
                        <a:t>C, I</a:t>
                      </a:r>
                      <a:endParaRPr lang="LID4096" dirty="0"/>
                    </a:p>
                  </a:txBody>
                  <a:tcPr anchor="ctr"/>
                </a:tc>
                <a:tc>
                  <a:txBody>
                    <a:bodyPr/>
                    <a:lstStyle/>
                    <a:p>
                      <a:r>
                        <a:rPr lang="en-GB" dirty="0"/>
                        <a:t>A</a:t>
                      </a:r>
                      <a:endParaRPr lang="LID4096" dirty="0"/>
                    </a:p>
                  </a:txBody>
                  <a:tcPr anchor="ctr"/>
                </a:tc>
                <a:tc>
                  <a:txBody>
                    <a:bodyPr/>
                    <a:lstStyle/>
                    <a:p>
                      <a:r>
                        <a:rPr lang="en-GB" dirty="0"/>
                        <a:t>A, R</a:t>
                      </a:r>
                      <a:endParaRPr lang="LID4096" dirty="0"/>
                    </a:p>
                  </a:txBody>
                  <a:tcPr anchor="ctr"/>
                </a:tc>
                <a:tc>
                  <a:txBody>
                    <a:bodyPr/>
                    <a:lstStyle/>
                    <a:p>
                      <a:r>
                        <a:rPr lang="en-GB" dirty="0"/>
                        <a:t>R</a:t>
                      </a:r>
                      <a:endParaRPr lang="LID4096" dirty="0"/>
                    </a:p>
                  </a:txBody>
                  <a:tcPr anchor="ctr"/>
                </a:tc>
                <a:extLst>
                  <a:ext uri="{0D108BD9-81ED-4DB2-BD59-A6C34878D82A}">
                    <a16:rowId xmlns:a16="http://schemas.microsoft.com/office/drawing/2014/main" val="2643925369"/>
                  </a:ext>
                </a:extLst>
              </a:tr>
              <a:tr h="177801">
                <a:tc>
                  <a:txBody>
                    <a:bodyPr/>
                    <a:lstStyle/>
                    <a:p>
                      <a:pPr rtl="0" fontAlgn="t">
                        <a:spcBef>
                          <a:spcPts val="0"/>
                        </a:spcBef>
                        <a:spcAft>
                          <a:spcPts val="0"/>
                        </a:spcAft>
                      </a:pPr>
                      <a:r>
                        <a:rPr lang="en-GB" sz="1800" b="0" i="0" u="none" strike="noStrike" dirty="0">
                          <a:solidFill>
                            <a:srgbClr val="000000"/>
                          </a:solidFill>
                          <a:effectLst/>
                          <a:latin typeface="+mn-lt"/>
                        </a:rPr>
                        <a:t>Final Report &amp; Presentation</a:t>
                      </a:r>
                      <a:endParaRPr lang="en-GB" sz="1800" dirty="0">
                        <a:effectLst/>
                        <a:latin typeface="+mn-lt"/>
                      </a:endParaRPr>
                    </a:p>
                  </a:txBody>
                  <a:tcPr marL="63500" marR="63500" marT="63500" marB="63500"/>
                </a:tc>
                <a:tc>
                  <a:txBody>
                    <a:bodyPr/>
                    <a:lstStyle/>
                    <a:p>
                      <a:r>
                        <a:rPr lang="en-GB" dirty="0"/>
                        <a:t>C, I</a:t>
                      </a:r>
                      <a:endParaRPr lang="LID4096" dirty="0"/>
                    </a:p>
                  </a:txBody>
                  <a:tcPr anchor="ctr"/>
                </a:tc>
                <a:tc>
                  <a:txBody>
                    <a:bodyPr/>
                    <a:lstStyle/>
                    <a:p>
                      <a:r>
                        <a:rPr lang="en-GB" dirty="0"/>
                        <a:t>A, R</a:t>
                      </a:r>
                      <a:endParaRPr lang="LID4096" dirty="0"/>
                    </a:p>
                  </a:txBody>
                  <a:tcPr anchor="ctr"/>
                </a:tc>
                <a:tc>
                  <a:txBody>
                    <a:bodyPr/>
                    <a:lstStyle/>
                    <a:p>
                      <a:r>
                        <a:rPr lang="en-GB" dirty="0"/>
                        <a:t>R</a:t>
                      </a:r>
                      <a:endParaRPr lang="LID4096" dirty="0"/>
                    </a:p>
                  </a:txBody>
                  <a:tcPr anchor="ctr"/>
                </a:tc>
                <a:tc>
                  <a:txBody>
                    <a:bodyPr/>
                    <a:lstStyle/>
                    <a:p>
                      <a:r>
                        <a:rPr lang="en-GB" dirty="0"/>
                        <a:t>A</a:t>
                      </a:r>
                      <a:endParaRPr lang="LID4096" dirty="0"/>
                    </a:p>
                  </a:txBody>
                  <a:tcPr anchor="ctr"/>
                </a:tc>
                <a:extLst>
                  <a:ext uri="{0D108BD9-81ED-4DB2-BD59-A6C34878D82A}">
                    <a16:rowId xmlns:a16="http://schemas.microsoft.com/office/drawing/2014/main" val="2000041509"/>
                  </a:ext>
                </a:extLst>
              </a:tr>
              <a:tr h="348878">
                <a:tc>
                  <a:txBody>
                    <a:bodyPr/>
                    <a:lstStyle/>
                    <a:p>
                      <a:pPr rtl="0" fontAlgn="t">
                        <a:spcBef>
                          <a:spcPts val="0"/>
                        </a:spcBef>
                        <a:spcAft>
                          <a:spcPts val="0"/>
                        </a:spcAft>
                      </a:pPr>
                      <a:r>
                        <a:rPr lang="en-GB" sz="1800" b="0" i="0" u="none" strike="noStrike" dirty="0">
                          <a:solidFill>
                            <a:srgbClr val="000000"/>
                          </a:solidFill>
                          <a:effectLst/>
                          <a:latin typeface="+mn-lt"/>
                        </a:rPr>
                        <a:t>Communication &amp; Documents</a:t>
                      </a:r>
                      <a:endParaRPr lang="en-GB" sz="1800" dirty="0">
                        <a:effectLst/>
                        <a:latin typeface="+mn-lt"/>
                      </a:endParaRPr>
                    </a:p>
                  </a:txBody>
                  <a:tcPr marL="63500" marR="63500" marT="63500" marB="63500"/>
                </a:tc>
                <a:tc>
                  <a:txBody>
                    <a:bodyPr/>
                    <a:lstStyle/>
                    <a:p>
                      <a:r>
                        <a:rPr lang="en-GB" dirty="0"/>
                        <a:t>C, I</a:t>
                      </a:r>
                      <a:endParaRPr lang="LID4096" dirty="0"/>
                    </a:p>
                  </a:txBody>
                  <a:tcPr anchor="ctr"/>
                </a:tc>
                <a:tc>
                  <a:txBody>
                    <a:bodyPr/>
                    <a:lstStyle/>
                    <a:p>
                      <a:r>
                        <a:rPr lang="en-GB" dirty="0"/>
                        <a:t>A</a:t>
                      </a:r>
                      <a:endParaRPr lang="LID4096" dirty="0"/>
                    </a:p>
                  </a:txBody>
                  <a:tcPr anchor="ctr"/>
                </a:tc>
                <a:tc>
                  <a:txBody>
                    <a:bodyPr/>
                    <a:lstStyle/>
                    <a:p>
                      <a:r>
                        <a:rPr lang="en-GB" dirty="0"/>
                        <a:t>R</a:t>
                      </a:r>
                      <a:endParaRPr lang="LID4096" dirty="0"/>
                    </a:p>
                  </a:txBody>
                  <a:tcPr anchor="ctr"/>
                </a:tc>
                <a:tc>
                  <a:txBody>
                    <a:bodyPr/>
                    <a:lstStyle/>
                    <a:p>
                      <a:r>
                        <a:rPr lang="en-GB" dirty="0"/>
                        <a:t>R</a:t>
                      </a:r>
                      <a:endParaRPr lang="LID4096" dirty="0"/>
                    </a:p>
                  </a:txBody>
                  <a:tcPr anchor="ctr"/>
                </a:tc>
                <a:extLst>
                  <a:ext uri="{0D108BD9-81ED-4DB2-BD59-A6C34878D82A}">
                    <a16:rowId xmlns:a16="http://schemas.microsoft.com/office/drawing/2014/main" val="2526616797"/>
                  </a:ext>
                </a:extLst>
              </a:tr>
            </a:tbl>
          </a:graphicData>
        </a:graphic>
      </p:graphicFrame>
      <p:sp>
        <p:nvSpPr>
          <p:cNvPr id="3" name="TextBox 2">
            <a:extLst>
              <a:ext uri="{FF2B5EF4-FFF2-40B4-BE49-F238E27FC236}">
                <a16:creationId xmlns:a16="http://schemas.microsoft.com/office/drawing/2014/main" id="{61BFE0C2-A8F2-11EA-7DB1-D6955F063E2C}"/>
              </a:ext>
            </a:extLst>
          </p:cNvPr>
          <p:cNvSpPr txBox="1"/>
          <p:nvPr/>
        </p:nvSpPr>
        <p:spPr>
          <a:xfrm>
            <a:off x="2517648" y="1652899"/>
            <a:ext cx="6245352" cy="369332"/>
          </a:xfrm>
          <a:prstGeom prst="rect">
            <a:avLst/>
          </a:prstGeom>
          <a:noFill/>
        </p:spPr>
        <p:txBody>
          <a:bodyPr wrap="square" rtlCol="0">
            <a:spAutoFit/>
          </a:bodyPr>
          <a:lstStyle/>
          <a:p>
            <a:pPr marL="285750" indent="-285750">
              <a:buFont typeface="Arial" panose="020B0604020202020204" pitchFamily="34" charset="0"/>
              <a:buChar char="•"/>
            </a:pPr>
            <a:r>
              <a:rPr lang="en-GB" dirty="0"/>
              <a:t>R = Responsible, A = Accountable, C = Consulted, I = Informed</a:t>
            </a:r>
            <a:endParaRPr lang="LID4096"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5" name="Title 1"/>
          <p:cNvSpPr>
            <a:spLocks noGrp="1"/>
          </p:cNvSpPr>
          <p:nvPr>
            <p:ph type="title"/>
          </p:nvPr>
        </p:nvSpPr>
        <p:spPr/>
        <p:txBody>
          <a:bodyPr/>
          <a:lstStyle/>
          <a:p>
            <a:r>
              <a:rPr lang="en-US" dirty="0"/>
              <a:t>Project </a:t>
            </a:r>
            <a:r>
              <a:rPr lang="en-US" b="1" dirty="0"/>
              <a:t>Milestones</a:t>
            </a:r>
          </a:p>
        </p:txBody>
      </p:sp>
      <p:sp>
        <p:nvSpPr>
          <p:cNvPr id="1048649" name="Content Placeholder 2"/>
          <p:cNvSpPr>
            <a:spLocks noGrp="1"/>
          </p:cNvSpPr>
          <p:nvPr>
            <p:ph sz="quarter" idx="1"/>
          </p:nvPr>
        </p:nvSpPr>
        <p:spPr/>
        <p:txBody>
          <a:bodyPr>
            <a:noAutofit/>
          </a:bodyPr>
          <a:lstStyle/>
          <a:p>
            <a:r>
              <a:rPr lang="en-GB" sz="1600" dirty="0"/>
              <a:t>Finalized project idea and selected supervisor</a:t>
            </a:r>
          </a:p>
          <a:p>
            <a:r>
              <a:rPr lang="en-GB" sz="1600" dirty="0"/>
              <a:t>Gathered system and security-related requirements</a:t>
            </a:r>
          </a:p>
          <a:p>
            <a:r>
              <a:rPr lang="en-GB" sz="1600" dirty="0"/>
              <a:t>Designed web architecture and UI layout</a:t>
            </a:r>
          </a:p>
          <a:p>
            <a:r>
              <a:rPr lang="en-GB" sz="1600" dirty="0"/>
              <a:t>Create rule-based web phishing detection logic</a:t>
            </a:r>
          </a:p>
          <a:p>
            <a:r>
              <a:rPr lang="en-GB" sz="1600" dirty="0"/>
              <a:t>Integrated blacklist API and heuristic rules</a:t>
            </a:r>
          </a:p>
          <a:p>
            <a:r>
              <a:rPr lang="en-GB" sz="1600" dirty="0"/>
              <a:t>Development of </a:t>
            </a:r>
            <a:r>
              <a:rPr lang="en-GB" sz="1600" dirty="0" err="1"/>
              <a:t>chatbox</a:t>
            </a:r>
            <a:r>
              <a:rPr lang="en-GB" sz="1600" dirty="0"/>
              <a:t> support system</a:t>
            </a:r>
          </a:p>
          <a:p>
            <a:r>
              <a:rPr lang="en-GB" sz="1600" dirty="0"/>
              <a:t>Test detection accuracy with sample links</a:t>
            </a:r>
          </a:p>
          <a:p>
            <a:r>
              <a:rPr lang="en-GB" sz="1600" dirty="0"/>
              <a:t>Deployment of web-based system</a:t>
            </a:r>
          </a:p>
          <a:p>
            <a:r>
              <a:rPr lang="en-GB" sz="1600" dirty="0"/>
              <a:t>Prepared documentation and presentation slides</a:t>
            </a:r>
          </a:p>
          <a:p>
            <a:r>
              <a:rPr lang="en-GB" sz="1600" dirty="0"/>
              <a:t>Final testing, bug fixing, and submission</a:t>
            </a: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p:txBody>
      </p:sp>
      <p:pic>
        <p:nvPicPr>
          <p:cNvPr id="4" name="Content Placeholder 3" descr="A blue and white text on a blue background&#10;&#10;AI-generated content may be incorrect.">
            <a:extLst>
              <a:ext uri="{FF2B5EF4-FFF2-40B4-BE49-F238E27FC236}">
                <a16:creationId xmlns:a16="http://schemas.microsoft.com/office/drawing/2014/main" id="{8525F3FC-500D-292A-81E5-695F047402BB}"/>
              </a:ext>
            </a:extLst>
          </p:cNvPr>
          <p:cNvPicPr>
            <a:picLocks noGrp="1" noChangeAspect="1"/>
          </p:cNvPicPr>
          <p:nvPr>
            <p:ph sz="quarter" idx="2"/>
          </p:nvPr>
        </p:nvPicPr>
        <p:blipFill>
          <a:blip r:embed="rId2" cstate="print">
            <a:extLst>
              <a:ext uri="{28A0092B-C50C-407E-A947-70E740481C1C}">
                <a14:useLocalDpi xmlns:a14="http://schemas.microsoft.com/office/drawing/2010/main" val="0"/>
              </a:ext>
            </a:extLst>
          </a:blip>
          <a:stretch>
            <a:fillRect/>
          </a:stretch>
        </p:blipFill>
        <p:spPr>
          <a:xfrm>
            <a:off x="5257800" y="1589567"/>
            <a:ext cx="3048000" cy="4572000"/>
          </a:xfrm>
        </p:spPr>
      </p:pic>
      <p:sp>
        <p:nvSpPr>
          <p:cNvPr id="1048648" name="Slide Number Placeholder 6"/>
          <p:cNvSpPr>
            <a:spLocks noGrp="1"/>
          </p:cNvSpPr>
          <p:nvPr>
            <p:ph type="sldNum" sz="quarter" idx="16"/>
          </p:nvPr>
        </p:nvSpPr>
        <p:spPr/>
        <p:txBody>
          <a:bodyPr>
            <a:normAutofit fontScale="85000" lnSpcReduction="20000"/>
          </a:bodyPr>
          <a:lstStyle/>
          <a:p>
            <a:fld id="{9EBC64C3-3FC7-4C40-910B-2643F037F02C}" type="slidenum">
              <a:rPr lang="en-US" smtClean="0"/>
              <a:t>11</a:t>
            </a:fld>
            <a:endParaRPr lang="en-US" dirty="0"/>
          </a:p>
        </p:txBody>
      </p:sp>
      <p:sp>
        <p:nvSpPr>
          <p:cNvPr id="1048647" name="Date Placeholder 5"/>
          <p:cNvSpPr>
            <a:spLocks noGrp="1"/>
          </p:cNvSpPr>
          <p:nvPr>
            <p:ph type="dt" sz="half" idx="10"/>
          </p:nvPr>
        </p:nvSpPr>
        <p:spPr/>
        <p:txBody>
          <a:bodyPr/>
          <a:lstStyle/>
          <a:p>
            <a:r>
              <a:rPr lang="en-US" dirty="0"/>
              <a:t>CS-FYP    </a:t>
            </a:r>
            <a:r>
              <a:rPr lang="en-US" dirty="0" err="1"/>
              <a:t>Hamdard</a:t>
            </a:r>
            <a:r>
              <a:rPr lang="en-US" dirty="0"/>
              <a:t> University </a:t>
            </a:r>
          </a:p>
        </p:txBody>
      </p:sp>
      <p:sp>
        <p:nvSpPr>
          <p:cNvPr id="1048646" name="Footer Placeholder 3"/>
          <p:cNvSpPr>
            <a:spLocks noGrp="1"/>
          </p:cNvSpPr>
          <p:nvPr>
            <p:ph type="ftr" sz="quarter" idx="4294967295"/>
          </p:nvPr>
        </p:nvSpPr>
        <p:spPr>
          <a:xfrm>
            <a:off x="609600" y="6432550"/>
            <a:ext cx="5410200" cy="288925"/>
          </a:xfrm>
          <a:solidFill>
            <a:srgbClr val="F86308"/>
          </a:solidFill>
        </p:spPr>
        <p:txBody>
          <a:bodyPr/>
          <a:lstStyle/>
          <a:p>
            <a:pPr algn="ctr"/>
            <a:r>
              <a:rPr lang="en-US" sz="1400" dirty="0">
                <a:solidFill>
                  <a:schemeClr val="tx1"/>
                </a:solidFill>
              </a:rPr>
              <a:t>Web-Based Phishing Detection System</a:t>
            </a:r>
          </a:p>
        </p:txBody>
      </p:sp>
      <p:pic>
        <p:nvPicPr>
          <p:cNvPr id="8" name="Picture 7">
            <a:extLst>
              <a:ext uri="{FF2B5EF4-FFF2-40B4-BE49-F238E27FC236}">
                <a16:creationId xmlns:a16="http://schemas.microsoft.com/office/drawing/2014/main" id="{B45F0C52-F7C3-FACA-AD8C-B543A1040685}"/>
              </a:ext>
            </a:extLst>
          </p:cNvPr>
          <p:cNvPicPr>
            <a:picLocks noChangeAspect="1"/>
          </p:cNvPicPr>
          <p:nvPr/>
        </p:nvPicPr>
        <p:blipFill>
          <a:blip r:embed="rId3"/>
          <a:stretch>
            <a:fillRect/>
          </a:stretch>
        </p:blipFill>
        <p:spPr>
          <a:xfrm>
            <a:off x="6022599" y="5105400"/>
            <a:ext cx="242471" cy="230991"/>
          </a:xfrm>
          <a:prstGeom prst="rect">
            <a:avLst/>
          </a:prstGeom>
        </p:spPr>
      </p:pic>
      <p:pic>
        <p:nvPicPr>
          <p:cNvPr id="6" name="Graphic 5" descr="Computer with solid fill">
            <a:extLst>
              <a:ext uri="{FF2B5EF4-FFF2-40B4-BE49-F238E27FC236}">
                <a16:creationId xmlns:a16="http://schemas.microsoft.com/office/drawing/2014/main" id="{666F4F16-F628-74C9-B0AE-91AFFCDF670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90797" y="5030317"/>
            <a:ext cx="306074" cy="306074"/>
          </a:xfrm>
          <a:prstGeom prst="rect">
            <a:avLst/>
          </a:prstGeom>
        </p:spPr>
      </p:pic>
      <p:pic>
        <p:nvPicPr>
          <p:cNvPr id="10" name="Picture 9">
            <a:extLst>
              <a:ext uri="{FF2B5EF4-FFF2-40B4-BE49-F238E27FC236}">
                <a16:creationId xmlns:a16="http://schemas.microsoft.com/office/drawing/2014/main" id="{A12521D1-21A8-9733-9201-C56DCAB4DBB5}"/>
              </a:ext>
            </a:extLst>
          </p:cNvPr>
          <p:cNvPicPr>
            <a:picLocks noChangeAspect="1"/>
          </p:cNvPicPr>
          <p:nvPr/>
        </p:nvPicPr>
        <p:blipFill>
          <a:blip r:embed="rId6"/>
          <a:stretch>
            <a:fillRect/>
          </a:stretch>
        </p:blipFill>
        <p:spPr>
          <a:xfrm>
            <a:off x="6328672" y="4920764"/>
            <a:ext cx="501057" cy="219106"/>
          </a:xfrm>
          <a:prstGeom prst="rect">
            <a:avLst/>
          </a:prstGeom>
        </p:spPr>
      </p:pic>
      <p:sp>
        <p:nvSpPr>
          <p:cNvPr id="11" name="TextBox 10">
            <a:extLst>
              <a:ext uri="{FF2B5EF4-FFF2-40B4-BE49-F238E27FC236}">
                <a16:creationId xmlns:a16="http://schemas.microsoft.com/office/drawing/2014/main" id="{062F68B2-DD75-0EE5-614D-1C9D4351BD1B}"/>
              </a:ext>
            </a:extLst>
          </p:cNvPr>
          <p:cNvSpPr txBox="1"/>
          <p:nvPr/>
        </p:nvSpPr>
        <p:spPr>
          <a:xfrm>
            <a:off x="6477000" y="4931269"/>
            <a:ext cx="457200" cy="261610"/>
          </a:xfrm>
          <a:prstGeom prst="rect">
            <a:avLst/>
          </a:prstGeom>
          <a:noFill/>
        </p:spPr>
        <p:txBody>
          <a:bodyPr wrap="square" rtlCol="0">
            <a:spAutoFit/>
          </a:bodyPr>
          <a:lstStyle/>
          <a:p>
            <a:r>
              <a:rPr lang="en-GB" sz="1100" b="1" dirty="0">
                <a:solidFill>
                  <a:srgbClr val="002060"/>
                </a:solidFill>
                <a:latin typeface="Arial Nova Cond" panose="020B0506020202020204" pitchFamily="34" charset="0"/>
              </a:rPr>
              <a:t>Web</a:t>
            </a:r>
            <a:endParaRPr lang="LID4096" sz="1100" b="1" dirty="0">
              <a:solidFill>
                <a:srgbClr val="002060"/>
              </a:solidFill>
              <a:latin typeface="Arial Nova Cond" panose="020B0506020202020204" pitchFamily="34" charset="0"/>
            </a:endParaRPr>
          </a:p>
        </p:txBody>
      </p:sp>
      <p:pic>
        <p:nvPicPr>
          <p:cNvPr id="13" name="Picture 12">
            <a:extLst>
              <a:ext uri="{FF2B5EF4-FFF2-40B4-BE49-F238E27FC236}">
                <a16:creationId xmlns:a16="http://schemas.microsoft.com/office/drawing/2014/main" id="{3E7723CB-5B6B-4A42-22C6-DFF5F9238AEE}"/>
              </a:ext>
            </a:extLst>
          </p:cNvPr>
          <p:cNvPicPr>
            <a:picLocks noChangeAspect="1"/>
          </p:cNvPicPr>
          <p:nvPr/>
        </p:nvPicPr>
        <p:blipFill>
          <a:blip r:embed="rId6"/>
          <a:stretch>
            <a:fillRect/>
          </a:stretch>
        </p:blipFill>
        <p:spPr>
          <a:xfrm>
            <a:off x="5419840" y="1905000"/>
            <a:ext cx="2733560" cy="381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5" name="Title 1"/>
          <p:cNvSpPr>
            <a:spLocks noGrp="1"/>
          </p:cNvSpPr>
          <p:nvPr>
            <p:ph type="title"/>
          </p:nvPr>
        </p:nvSpPr>
        <p:spPr/>
        <p:txBody>
          <a:bodyPr/>
          <a:lstStyle/>
          <a:p>
            <a:r>
              <a:rPr lang="en-US" dirty="0"/>
              <a:t>Project </a:t>
            </a:r>
            <a:r>
              <a:rPr lang="en-US" b="1" dirty="0"/>
              <a:t>Plan</a:t>
            </a:r>
            <a:endParaRPr lang="en-US" dirty="0"/>
          </a:p>
        </p:txBody>
      </p:sp>
      <p:sp>
        <p:nvSpPr>
          <p:cNvPr id="1048656" name="Footer Placeholder 3"/>
          <p:cNvSpPr>
            <a:spLocks noGrp="1"/>
          </p:cNvSpPr>
          <p:nvPr>
            <p:ph type="ftr" sz="quarter" idx="11"/>
          </p:nvPr>
        </p:nvSpPr>
        <p:spPr/>
        <p:txBody>
          <a:bodyPr/>
          <a:lstStyle/>
          <a:p>
            <a:pPr algn="ctr"/>
            <a:r>
              <a:rPr lang="en-US" sz="1400" dirty="0">
                <a:solidFill>
                  <a:schemeClr val="tx1"/>
                </a:solidFill>
              </a:rPr>
              <a:t>Web-Based Phishing Detection System</a:t>
            </a:r>
          </a:p>
        </p:txBody>
      </p:sp>
      <p:sp>
        <p:nvSpPr>
          <p:cNvPr id="1048657" name="Date Placeholder 5"/>
          <p:cNvSpPr>
            <a:spLocks noGrp="1"/>
          </p:cNvSpPr>
          <p:nvPr>
            <p:ph type="dt" sz="half" idx="10"/>
          </p:nvPr>
        </p:nvSpPr>
        <p:spPr/>
        <p:txBody>
          <a:bodyPr/>
          <a:lstStyle/>
          <a:p>
            <a:r>
              <a:rPr lang="en-US" sz="1200" dirty="0"/>
              <a:t>CS-FYP    </a:t>
            </a:r>
            <a:r>
              <a:rPr lang="en-US" sz="1200" dirty="0" err="1"/>
              <a:t>Hamdard</a:t>
            </a:r>
            <a:r>
              <a:rPr lang="en-US" sz="1200" dirty="0"/>
              <a:t> University </a:t>
            </a:r>
          </a:p>
        </p:txBody>
      </p:sp>
      <p:sp>
        <p:nvSpPr>
          <p:cNvPr id="1048658" name="Slide Number Placeholder 6"/>
          <p:cNvSpPr>
            <a:spLocks noGrp="1"/>
          </p:cNvSpPr>
          <p:nvPr>
            <p:ph type="sldNum" sz="quarter" idx="12"/>
          </p:nvPr>
        </p:nvSpPr>
        <p:spPr/>
        <p:txBody>
          <a:bodyPr/>
          <a:lstStyle/>
          <a:p>
            <a:fld id="{9EBC64C3-3FC7-4C40-910B-2643F037F02C}" type="slidenum">
              <a:rPr lang="en-US" smtClean="0"/>
              <a:t>12</a:t>
            </a:fld>
            <a:endParaRPr lang="en-US" dirty="0"/>
          </a:p>
        </p:txBody>
      </p:sp>
      <p:graphicFrame>
        <p:nvGraphicFramePr>
          <p:cNvPr id="3" name="Content Placeholder 2">
            <a:extLst>
              <a:ext uri="{FF2B5EF4-FFF2-40B4-BE49-F238E27FC236}">
                <a16:creationId xmlns:a16="http://schemas.microsoft.com/office/drawing/2014/main" id="{F0CB17B0-8678-A761-DDB5-714CF599E592}"/>
              </a:ext>
            </a:extLst>
          </p:cNvPr>
          <p:cNvGraphicFramePr>
            <a:graphicFrameLocks noGrp="1"/>
          </p:cNvGraphicFramePr>
          <p:nvPr>
            <p:ph sz="quarter" idx="1"/>
            <p:extLst>
              <p:ext uri="{D42A27DB-BD31-4B8C-83A1-F6EECF244321}">
                <p14:modId xmlns:p14="http://schemas.microsoft.com/office/powerpoint/2010/main" val="3043716608"/>
              </p:ext>
            </p:extLst>
          </p:nvPr>
        </p:nvGraphicFramePr>
        <p:xfrm>
          <a:off x="591313" y="1828800"/>
          <a:ext cx="8260080" cy="4198624"/>
        </p:xfrm>
        <a:graphic>
          <a:graphicData uri="http://schemas.openxmlformats.org/drawingml/2006/table">
            <a:tbl>
              <a:tblPr firstRow="1" bandRow="1">
                <a:tableStyleId>{5C22544A-7EE6-4342-B048-85BDC9FD1C3A}</a:tableStyleId>
              </a:tblPr>
              <a:tblGrid>
                <a:gridCol w="944358">
                  <a:extLst>
                    <a:ext uri="{9D8B030D-6E8A-4147-A177-3AD203B41FA5}">
                      <a16:colId xmlns:a16="http://schemas.microsoft.com/office/drawing/2014/main" val="76229062"/>
                    </a:ext>
                  </a:extLst>
                </a:gridCol>
                <a:gridCol w="3234320">
                  <a:extLst>
                    <a:ext uri="{9D8B030D-6E8A-4147-A177-3AD203B41FA5}">
                      <a16:colId xmlns:a16="http://schemas.microsoft.com/office/drawing/2014/main" val="1041199084"/>
                    </a:ext>
                  </a:extLst>
                </a:gridCol>
                <a:gridCol w="1540152">
                  <a:extLst>
                    <a:ext uri="{9D8B030D-6E8A-4147-A177-3AD203B41FA5}">
                      <a16:colId xmlns:a16="http://schemas.microsoft.com/office/drawing/2014/main" val="3677001809"/>
                    </a:ext>
                  </a:extLst>
                </a:gridCol>
                <a:gridCol w="1457275">
                  <a:extLst>
                    <a:ext uri="{9D8B030D-6E8A-4147-A177-3AD203B41FA5}">
                      <a16:colId xmlns:a16="http://schemas.microsoft.com/office/drawing/2014/main" val="2779119702"/>
                    </a:ext>
                  </a:extLst>
                </a:gridCol>
                <a:gridCol w="1083975">
                  <a:extLst>
                    <a:ext uri="{9D8B030D-6E8A-4147-A177-3AD203B41FA5}">
                      <a16:colId xmlns:a16="http://schemas.microsoft.com/office/drawing/2014/main" val="3206561303"/>
                    </a:ext>
                  </a:extLst>
                </a:gridCol>
              </a:tblGrid>
              <a:tr h="386080">
                <a:tc>
                  <a:txBody>
                    <a:bodyPr/>
                    <a:lstStyle/>
                    <a:p>
                      <a:pPr algn="ctr"/>
                      <a:r>
                        <a:rPr lang="en-GB" dirty="0">
                          <a:solidFill>
                            <a:schemeClr val="tx1"/>
                          </a:solidFill>
                        </a:rPr>
                        <a:t>Task ID </a:t>
                      </a:r>
                      <a:endParaRPr lang="LID4096" dirty="0">
                        <a:solidFill>
                          <a:schemeClr val="tx1"/>
                        </a:solidFill>
                      </a:endParaRPr>
                    </a:p>
                  </a:txBody>
                  <a:tcPr anchor="ctr"/>
                </a:tc>
                <a:tc>
                  <a:txBody>
                    <a:bodyPr/>
                    <a:lstStyle/>
                    <a:p>
                      <a:pPr algn="ctr"/>
                      <a:r>
                        <a:rPr lang="en-GB" dirty="0">
                          <a:solidFill>
                            <a:schemeClr val="tx1"/>
                          </a:solidFill>
                        </a:rPr>
                        <a:t>Task Name </a:t>
                      </a:r>
                      <a:endParaRPr lang="LID4096" dirty="0">
                        <a:solidFill>
                          <a:schemeClr val="tx1"/>
                        </a:solidFill>
                      </a:endParaRPr>
                    </a:p>
                  </a:txBody>
                  <a:tcPr anchor="ctr"/>
                </a:tc>
                <a:tc>
                  <a:txBody>
                    <a:bodyPr/>
                    <a:lstStyle/>
                    <a:p>
                      <a:pPr algn="ctr"/>
                      <a:r>
                        <a:rPr lang="en-GB" dirty="0">
                          <a:solidFill>
                            <a:schemeClr val="tx1"/>
                          </a:solidFill>
                        </a:rPr>
                        <a:t>Start Date </a:t>
                      </a:r>
                      <a:endParaRPr lang="LID4096" dirty="0">
                        <a:solidFill>
                          <a:schemeClr val="tx1"/>
                        </a:solidFill>
                      </a:endParaRPr>
                    </a:p>
                  </a:txBody>
                  <a:tcPr anchor="ctr"/>
                </a:tc>
                <a:tc>
                  <a:txBody>
                    <a:bodyPr/>
                    <a:lstStyle/>
                    <a:p>
                      <a:pPr algn="ctr"/>
                      <a:r>
                        <a:rPr lang="en-GB" dirty="0">
                          <a:solidFill>
                            <a:schemeClr val="tx1"/>
                          </a:solidFill>
                        </a:rPr>
                        <a:t>End Date</a:t>
                      </a:r>
                      <a:endParaRPr lang="LID4096" dirty="0">
                        <a:solidFill>
                          <a:schemeClr val="tx1"/>
                        </a:solidFill>
                      </a:endParaRPr>
                    </a:p>
                  </a:txBody>
                  <a:tcPr anchor="ctr"/>
                </a:tc>
                <a:tc>
                  <a:txBody>
                    <a:bodyPr/>
                    <a:lstStyle/>
                    <a:p>
                      <a:pPr algn="ctr"/>
                      <a:r>
                        <a:rPr lang="en-GB" dirty="0">
                          <a:solidFill>
                            <a:schemeClr val="tx1"/>
                          </a:solidFill>
                        </a:rPr>
                        <a:t>Duration</a:t>
                      </a:r>
                      <a:endParaRPr lang="LID4096" dirty="0">
                        <a:solidFill>
                          <a:schemeClr val="tx1"/>
                        </a:solidFill>
                      </a:endParaRPr>
                    </a:p>
                  </a:txBody>
                  <a:tcPr anchor="ctr"/>
                </a:tc>
                <a:extLst>
                  <a:ext uri="{0D108BD9-81ED-4DB2-BD59-A6C34878D82A}">
                    <a16:rowId xmlns:a16="http://schemas.microsoft.com/office/drawing/2014/main" val="3981328533"/>
                  </a:ext>
                </a:extLst>
              </a:tr>
              <a:tr h="423616">
                <a:tc>
                  <a:txBody>
                    <a:bodyPr/>
                    <a:lstStyle/>
                    <a:p>
                      <a:pPr marL="49530" algn="ctr">
                        <a:spcBef>
                          <a:spcPts val="555"/>
                        </a:spcBef>
                        <a:spcAft>
                          <a:spcPts val="0"/>
                        </a:spcAft>
                      </a:pPr>
                      <a:r>
                        <a:rPr lang="en-US" sz="1800" spc="-25" dirty="0">
                          <a:effectLst/>
                          <a:latin typeface="Times New Roman" panose="02020603050405020304" pitchFamily="18" charset="0"/>
                          <a:ea typeface="Times New Roman" panose="02020603050405020304" pitchFamily="18" charset="0"/>
                          <a:cs typeface="Times New Roman" panose="02020603050405020304" pitchFamily="18" charset="0"/>
                        </a:rPr>
                        <a:t>T1</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l" rtl="0" fontAlgn="t">
                        <a:spcBef>
                          <a:spcPts val="0"/>
                        </a:spcBef>
                        <a:spcAft>
                          <a:spcPts val="0"/>
                        </a:spcAft>
                      </a:pPr>
                      <a:r>
                        <a:rPr lang="en-GB" sz="1800" b="0" i="0" u="none" strike="noStrike" dirty="0">
                          <a:solidFill>
                            <a:srgbClr val="000000"/>
                          </a:solidFill>
                          <a:effectLst/>
                          <a:latin typeface="+mn-lt"/>
                        </a:rPr>
                        <a:t>Proposal &amp; Project Planning</a:t>
                      </a:r>
                      <a:endParaRPr lang="en-GB" sz="1800" dirty="0">
                        <a:effectLst/>
                        <a:latin typeface="+mn-lt"/>
                      </a:endParaRPr>
                    </a:p>
                  </a:txBody>
                  <a:tcPr marL="63500" marR="63500" marT="63500" marB="63500"/>
                </a:tc>
                <a:tc>
                  <a:txBody>
                    <a:bodyPr/>
                    <a:lstStyle/>
                    <a:p>
                      <a:pPr marL="194310" algn="l">
                        <a:spcBef>
                          <a:spcPts val="5"/>
                        </a:spcBef>
                        <a:spcAft>
                          <a:spcPts val="0"/>
                        </a:spcAft>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Aug</a:t>
                      </a:r>
                      <a:r>
                        <a:rPr lang="en-US" sz="17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spc="-20" dirty="0">
                          <a:effectLst/>
                          <a:latin typeface="Times New Roman" panose="02020603050405020304" pitchFamily="18" charset="0"/>
                          <a:ea typeface="Times New Roman" panose="02020603050405020304" pitchFamily="18" charset="0"/>
                          <a:cs typeface="Times New Roman" panose="02020603050405020304" pitchFamily="18" charset="0"/>
                        </a:rPr>
                        <a:t>2025</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123825" algn="l">
                        <a:spcBef>
                          <a:spcPts val="5"/>
                        </a:spcBef>
                        <a:spcAft>
                          <a:spcPts val="0"/>
                        </a:spcAft>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Aug</a:t>
                      </a:r>
                      <a:r>
                        <a:rPr lang="en-US" sz="17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14, </a:t>
                      </a:r>
                      <a:r>
                        <a:rPr lang="en-US" sz="1700" spc="-20" dirty="0">
                          <a:effectLst/>
                          <a:latin typeface="Times New Roman" panose="02020603050405020304" pitchFamily="18" charset="0"/>
                          <a:ea typeface="Times New Roman" panose="02020603050405020304" pitchFamily="18" charset="0"/>
                          <a:cs typeface="Times New Roman" panose="02020603050405020304" pitchFamily="18" charset="0"/>
                        </a:rPr>
                        <a:t>2025</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735" algn="ctr">
                        <a:spcBef>
                          <a:spcPts val="5"/>
                        </a:spcBef>
                        <a:spcAft>
                          <a:spcPts val="0"/>
                        </a:spcAft>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2</a:t>
                      </a:r>
                      <a:r>
                        <a:rPr lang="en-US" sz="1700" spc="-10" dirty="0">
                          <a:effectLst/>
                          <a:latin typeface="Times New Roman" panose="02020603050405020304" pitchFamily="18" charset="0"/>
                          <a:ea typeface="Times New Roman" panose="02020603050405020304" pitchFamily="18" charset="0"/>
                          <a:cs typeface="Times New Roman" panose="02020603050405020304" pitchFamily="18" charset="0"/>
                        </a:rPr>
                        <a:t> weeks</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82740668"/>
                  </a:ext>
                </a:extLst>
              </a:tr>
              <a:tr h="423616">
                <a:tc>
                  <a:txBody>
                    <a:bodyPr/>
                    <a:lstStyle/>
                    <a:p>
                      <a:pPr marL="49530" algn="ctr">
                        <a:spcBef>
                          <a:spcPts val="530"/>
                        </a:spcBef>
                        <a:spcAft>
                          <a:spcPts val="0"/>
                        </a:spcAft>
                      </a:pPr>
                      <a:r>
                        <a:rPr lang="en-US" sz="1800" spc="-25">
                          <a:effectLst/>
                          <a:latin typeface="Times New Roman" panose="02020603050405020304" pitchFamily="18" charset="0"/>
                          <a:ea typeface="Times New Roman" panose="02020603050405020304" pitchFamily="18" charset="0"/>
                          <a:cs typeface="Times New Roman" panose="02020603050405020304" pitchFamily="18" charset="0"/>
                        </a:rPr>
                        <a:t>T2</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l" rtl="0" fontAlgn="t">
                        <a:spcBef>
                          <a:spcPts val="0"/>
                        </a:spcBef>
                        <a:spcAft>
                          <a:spcPts val="0"/>
                        </a:spcAft>
                      </a:pPr>
                      <a:r>
                        <a:rPr lang="en-GB" sz="1800" b="0" i="0" u="none" strike="noStrike" dirty="0">
                          <a:solidFill>
                            <a:srgbClr val="000000"/>
                          </a:solidFill>
                          <a:effectLst/>
                          <a:latin typeface="+mn-lt"/>
                        </a:rPr>
                        <a:t>Literature Review</a:t>
                      </a:r>
                      <a:endParaRPr lang="en-GB" sz="1800" dirty="0">
                        <a:effectLst/>
                        <a:latin typeface="+mn-lt"/>
                      </a:endParaRPr>
                    </a:p>
                  </a:txBody>
                  <a:tcPr marL="63500" marR="63500" marT="63500" marB="63500"/>
                </a:tc>
                <a:tc>
                  <a:txBody>
                    <a:bodyPr/>
                    <a:lstStyle/>
                    <a:p>
                      <a:pPr marL="156210" algn="l">
                        <a:lnSpc>
                          <a:spcPts val="1350"/>
                        </a:lnSpc>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Aug 18,</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spc="-20" dirty="0">
                          <a:effectLst/>
                          <a:latin typeface="Times New Roman" panose="02020603050405020304" pitchFamily="18" charset="0"/>
                          <a:ea typeface="Times New Roman" panose="02020603050405020304" pitchFamily="18" charset="0"/>
                          <a:cs typeface="Times New Roman" panose="02020603050405020304" pitchFamily="18" charset="0"/>
                        </a:rPr>
                        <a:t>2025</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123825" algn="l">
                        <a:lnSpc>
                          <a:spcPts val="1350"/>
                        </a:lnSpc>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Aug</a:t>
                      </a:r>
                      <a:r>
                        <a:rPr lang="en-US" sz="17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25, </a:t>
                      </a:r>
                      <a:r>
                        <a:rPr lang="en-US" sz="1700" spc="-20" dirty="0">
                          <a:effectLst/>
                          <a:latin typeface="Times New Roman" panose="02020603050405020304" pitchFamily="18" charset="0"/>
                          <a:ea typeface="Times New Roman" panose="02020603050405020304" pitchFamily="18" charset="0"/>
                          <a:cs typeface="Times New Roman" panose="02020603050405020304" pitchFamily="18" charset="0"/>
                        </a:rPr>
                        <a:t>2025</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735" algn="ctr">
                        <a:lnSpc>
                          <a:spcPts val="1350"/>
                        </a:lnSpc>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1 </a:t>
                      </a:r>
                      <a:r>
                        <a:rPr lang="en-US" sz="1700" spc="-20" dirty="0">
                          <a:effectLst/>
                          <a:latin typeface="Times New Roman" panose="02020603050405020304" pitchFamily="18" charset="0"/>
                          <a:ea typeface="Times New Roman" panose="02020603050405020304" pitchFamily="18" charset="0"/>
                          <a:cs typeface="Times New Roman" panose="02020603050405020304" pitchFamily="18" charset="0"/>
                        </a:rPr>
                        <a:t>week</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243918053"/>
                  </a:ext>
                </a:extLst>
              </a:tr>
              <a:tr h="423616">
                <a:tc>
                  <a:txBody>
                    <a:bodyPr/>
                    <a:lstStyle/>
                    <a:p>
                      <a:pPr marL="49530" algn="ctr">
                        <a:spcBef>
                          <a:spcPts val="605"/>
                        </a:spcBef>
                        <a:spcAft>
                          <a:spcPts val="0"/>
                        </a:spcAft>
                      </a:pPr>
                      <a:r>
                        <a:rPr lang="en-US" sz="1800" spc="-25">
                          <a:effectLst/>
                          <a:latin typeface="Times New Roman" panose="02020603050405020304" pitchFamily="18" charset="0"/>
                          <a:ea typeface="Times New Roman" panose="02020603050405020304" pitchFamily="18" charset="0"/>
                          <a:cs typeface="Times New Roman" panose="02020603050405020304" pitchFamily="18" charset="0"/>
                        </a:rPr>
                        <a:t>T3</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l" rtl="0" fontAlgn="t">
                        <a:spcBef>
                          <a:spcPts val="0"/>
                        </a:spcBef>
                        <a:spcAft>
                          <a:spcPts val="0"/>
                        </a:spcAft>
                      </a:pPr>
                      <a:r>
                        <a:rPr lang="en-GB" sz="1800" b="0" i="0" u="none" strike="noStrike" dirty="0">
                          <a:solidFill>
                            <a:srgbClr val="000000"/>
                          </a:solidFill>
                          <a:effectLst/>
                          <a:latin typeface="+mn-lt"/>
                        </a:rPr>
                        <a:t>UI Design (Web Frontend)</a:t>
                      </a:r>
                      <a:endParaRPr lang="en-GB" sz="1800" dirty="0">
                        <a:effectLst/>
                        <a:latin typeface="+mn-lt"/>
                      </a:endParaRPr>
                    </a:p>
                  </a:txBody>
                  <a:tcPr marL="63500" marR="63500" marT="63500" marB="63500"/>
                </a:tc>
                <a:tc>
                  <a:txBody>
                    <a:bodyPr/>
                    <a:lstStyle/>
                    <a:p>
                      <a:pPr marL="211455" algn="l">
                        <a:spcBef>
                          <a:spcPts val="55"/>
                        </a:spcBef>
                        <a:spcAft>
                          <a:spcPts val="0"/>
                        </a:spcAft>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Sep</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1, </a:t>
                      </a:r>
                      <a:r>
                        <a:rPr lang="en-US" sz="1700" spc="-20" dirty="0">
                          <a:effectLst/>
                          <a:latin typeface="Times New Roman" panose="02020603050405020304" pitchFamily="18" charset="0"/>
                          <a:ea typeface="Times New Roman" panose="02020603050405020304" pitchFamily="18" charset="0"/>
                          <a:cs typeface="Times New Roman" panose="02020603050405020304" pitchFamily="18" charset="0"/>
                        </a:rPr>
                        <a:t>2025</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140970" algn="l">
                        <a:spcBef>
                          <a:spcPts val="55"/>
                        </a:spcBef>
                        <a:spcAft>
                          <a:spcPts val="0"/>
                        </a:spcAft>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Sep</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30, </a:t>
                      </a:r>
                      <a:r>
                        <a:rPr lang="en-US" sz="1700" spc="-20" dirty="0">
                          <a:effectLst/>
                          <a:latin typeface="Times New Roman" panose="02020603050405020304" pitchFamily="18" charset="0"/>
                          <a:ea typeface="Times New Roman" panose="02020603050405020304" pitchFamily="18" charset="0"/>
                          <a:cs typeface="Times New Roman" panose="02020603050405020304" pitchFamily="18" charset="0"/>
                        </a:rPr>
                        <a:t>2025</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735" algn="ctr">
                        <a:spcBef>
                          <a:spcPts val="55"/>
                        </a:spcBef>
                        <a:spcAft>
                          <a:spcPts val="0"/>
                        </a:spcAft>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n-US" sz="1700" spc="-10" dirty="0">
                          <a:effectLst/>
                          <a:latin typeface="Times New Roman" panose="02020603050405020304" pitchFamily="18" charset="0"/>
                          <a:ea typeface="Times New Roman" panose="02020603050405020304" pitchFamily="18" charset="0"/>
                          <a:cs typeface="Times New Roman" panose="02020603050405020304" pitchFamily="18" charset="0"/>
                        </a:rPr>
                        <a:t> month</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641812260"/>
                  </a:ext>
                </a:extLst>
              </a:tr>
              <a:tr h="423616">
                <a:tc>
                  <a:txBody>
                    <a:bodyPr/>
                    <a:lstStyle/>
                    <a:p>
                      <a:pPr marL="49530" algn="ctr">
                        <a:spcBef>
                          <a:spcPts val="450"/>
                        </a:spcBef>
                        <a:spcAft>
                          <a:spcPts val="0"/>
                        </a:spcAft>
                      </a:pPr>
                      <a:r>
                        <a:rPr lang="en-US" sz="1800" spc="-25" dirty="0">
                          <a:effectLst/>
                          <a:latin typeface="Times New Roman" panose="02020603050405020304" pitchFamily="18" charset="0"/>
                          <a:ea typeface="Times New Roman" panose="02020603050405020304" pitchFamily="18" charset="0"/>
                          <a:cs typeface="Times New Roman" panose="02020603050405020304" pitchFamily="18" charset="0"/>
                        </a:rPr>
                        <a:t>T4</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l" rtl="0" fontAlgn="t">
                        <a:spcBef>
                          <a:spcPts val="0"/>
                        </a:spcBef>
                        <a:spcAft>
                          <a:spcPts val="0"/>
                        </a:spcAft>
                      </a:pPr>
                      <a:r>
                        <a:rPr lang="en-GB" sz="1800" b="0" i="0" u="none" strike="noStrike">
                          <a:solidFill>
                            <a:srgbClr val="000000"/>
                          </a:solidFill>
                          <a:effectLst/>
                          <a:latin typeface="+mn-lt"/>
                        </a:rPr>
                        <a:t>Rule-Based Detection Logic</a:t>
                      </a:r>
                      <a:endParaRPr lang="en-GB" sz="1800">
                        <a:effectLst/>
                        <a:latin typeface="+mn-lt"/>
                      </a:endParaRPr>
                    </a:p>
                  </a:txBody>
                  <a:tcPr marL="63500" marR="63500" marT="63500" marB="63500"/>
                </a:tc>
                <a:tc>
                  <a:txBody>
                    <a:bodyPr/>
                    <a:lstStyle/>
                    <a:p>
                      <a:pPr marL="215900" algn="l">
                        <a:lnSpc>
                          <a:spcPts val="1375"/>
                        </a:lnSpc>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Oct</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5,</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spc="-20" dirty="0">
                          <a:effectLst/>
                          <a:latin typeface="Times New Roman" panose="02020603050405020304" pitchFamily="18" charset="0"/>
                          <a:ea typeface="Times New Roman" panose="02020603050405020304" pitchFamily="18" charset="0"/>
                          <a:cs typeface="Times New Roman" panose="02020603050405020304" pitchFamily="18" charset="0"/>
                        </a:rPr>
                        <a:t>2025</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169545" algn="l">
                        <a:lnSpc>
                          <a:spcPts val="1375"/>
                        </a:lnSpc>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Dec</a:t>
                      </a:r>
                      <a:r>
                        <a:rPr lang="en-US" sz="17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5,</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spc="-20" dirty="0">
                          <a:effectLst/>
                          <a:latin typeface="Times New Roman" panose="02020603050405020304" pitchFamily="18" charset="0"/>
                          <a:ea typeface="Times New Roman" panose="02020603050405020304" pitchFamily="18" charset="0"/>
                          <a:cs typeface="Times New Roman" panose="02020603050405020304" pitchFamily="18" charset="0"/>
                        </a:rPr>
                        <a:t>2025</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735" algn="ctr">
                        <a:lnSpc>
                          <a:spcPts val="1375"/>
                        </a:lnSpc>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3</a:t>
                      </a:r>
                      <a:r>
                        <a:rPr lang="en-US" sz="1700" spc="-10" dirty="0">
                          <a:effectLst/>
                          <a:latin typeface="Times New Roman" panose="02020603050405020304" pitchFamily="18" charset="0"/>
                          <a:ea typeface="Times New Roman" panose="02020603050405020304" pitchFamily="18" charset="0"/>
                          <a:cs typeface="Times New Roman" panose="02020603050405020304" pitchFamily="18" charset="0"/>
                        </a:rPr>
                        <a:t> month</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938729064"/>
                  </a:ext>
                </a:extLst>
              </a:tr>
              <a:tr h="423616">
                <a:tc>
                  <a:txBody>
                    <a:bodyPr/>
                    <a:lstStyle/>
                    <a:p>
                      <a:pPr marL="49530" algn="ctr">
                        <a:spcBef>
                          <a:spcPts val="450"/>
                        </a:spcBef>
                        <a:spcAft>
                          <a:spcPts val="0"/>
                        </a:spcAft>
                      </a:pPr>
                      <a:r>
                        <a:rPr lang="en-US" sz="1800" spc="-25">
                          <a:effectLst/>
                          <a:latin typeface="Times New Roman" panose="02020603050405020304" pitchFamily="18" charset="0"/>
                          <a:ea typeface="Times New Roman" panose="02020603050405020304" pitchFamily="18" charset="0"/>
                          <a:cs typeface="Times New Roman" panose="02020603050405020304" pitchFamily="18" charset="0"/>
                        </a:rPr>
                        <a:t>T5</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l" rtl="0" fontAlgn="t">
                        <a:spcBef>
                          <a:spcPts val="0"/>
                        </a:spcBef>
                        <a:spcAft>
                          <a:spcPts val="0"/>
                        </a:spcAft>
                      </a:pPr>
                      <a:r>
                        <a:rPr lang="en-GB" sz="1800" b="0" i="0" u="none" strike="noStrike">
                          <a:solidFill>
                            <a:srgbClr val="000000"/>
                          </a:solidFill>
                          <a:effectLst/>
                          <a:latin typeface="+mn-lt"/>
                        </a:rPr>
                        <a:t>Blacklist &amp; Heuristic Integration</a:t>
                      </a:r>
                      <a:endParaRPr lang="en-GB" sz="1800">
                        <a:effectLst/>
                        <a:latin typeface="+mn-lt"/>
                      </a:endParaRPr>
                    </a:p>
                  </a:txBody>
                  <a:tcPr marL="63500" marR="63500" marT="63500" marB="63500"/>
                </a:tc>
                <a:tc>
                  <a:txBody>
                    <a:bodyPr/>
                    <a:lstStyle/>
                    <a:p>
                      <a:pPr marL="163830" algn="l">
                        <a:lnSpc>
                          <a:spcPts val="1340"/>
                        </a:lnSpc>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Dec</a:t>
                      </a:r>
                      <a:r>
                        <a:rPr lang="en-US" sz="17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15,</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spc="-20" dirty="0">
                          <a:effectLst/>
                          <a:latin typeface="Times New Roman" panose="02020603050405020304" pitchFamily="18" charset="0"/>
                          <a:ea typeface="Times New Roman" panose="02020603050405020304" pitchFamily="18" charset="0"/>
                          <a:cs typeface="Times New Roman" panose="02020603050405020304" pitchFamily="18" charset="0"/>
                        </a:rPr>
                        <a:t>2025</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153035" algn="l">
                        <a:lnSpc>
                          <a:spcPts val="1340"/>
                        </a:lnSpc>
                      </a:pPr>
                      <a:r>
                        <a:rPr lang="en-US" sz="1700" spc="-15" dirty="0">
                          <a:effectLst/>
                          <a:latin typeface="Times New Roman" panose="02020603050405020304" pitchFamily="18" charset="0"/>
                          <a:ea typeface="Times New Roman" panose="02020603050405020304" pitchFamily="18" charset="0"/>
                          <a:cs typeface="Times New Roman" panose="02020603050405020304" pitchFamily="18" charset="0"/>
                        </a:rPr>
                        <a:t>Feb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20, </a:t>
                      </a:r>
                      <a:r>
                        <a:rPr lang="en-US" sz="1700" spc="-20" dirty="0">
                          <a:effectLst/>
                          <a:latin typeface="Times New Roman" panose="02020603050405020304" pitchFamily="18" charset="0"/>
                          <a:ea typeface="Times New Roman" panose="02020603050405020304" pitchFamily="18" charset="0"/>
                          <a:cs typeface="Times New Roman" panose="02020603050405020304" pitchFamily="18" charset="0"/>
                        </a:rPr>
                        <a:t>2026</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735" algn="ctr">
                        <a:lnSpc>
                          <a:spcPts val="1340"/>
                        </a:lnSpc>
                      </a:pPr>
                      <a:r>
                        <a:rPr lang="en-US" sz="1700" spc="-10" dirty="0">
                          <a:effectLst/>
                          <a:latin typeface="Times New Roman" panose="02020603050405020304" pitchFamily="18" charset="0"/>
                          <a:ea typeface="Times New Roman" panose="02020603050405020304" pitchFamily="18" charset="0"/>
                          <a:cs typeface="Times New Roman" panose="02020603050405020304" pitchFamily="18" charset="0"/>
                        </a:rPr>
                        <a:t>2 month</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3785118225"/>
                  </a:ext>
                </a:extLst>
              </a:tr>
              <a:tr h="423616">
                <a:tc>
                  <a:txBody>
                    <a:bodyPr/>
                    <a:lstStyle/>
                    <a:p>
                      <a:pPr marL="49530" algn="ctr">
                        <a:spcBef>
                          <a:spcPts val="495"/>
                        </a:spcBef>
                        <a:spcAft>
                          <a:spcPts val="0"/>
                        </a:spcAft>
                      </a:pPr>
                      <a:r>
                        <a:rPr lang="en-US" sz="1800" spc="-25">
                          <a:effectLst/>
                          <a:latin typeface="Times New Roman" panose="02020603050405020304" pitchFamily="18" charset="0"/>
                          <a:ea typeface="Times New Roman" panose="02020603050405020304" pitchFamily="18" charset="0"/>
                          <a:cs typeface="Times New Roman" panose="02020603050405020304" pitchFamily="18" charset="0"/>
                        </a:rPr>
                        <a:t>T6</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l" rtl="0" fontAlgn="t">
                        <a:spcBef>
                          <a:spcPts val="0"/>
                        </a:spcBef>
                        <a:spcAft>
                          <a:spcPts val="0"/>
                        </a:spcAft>
                      </a:pPr>
                      <a:r>
                        <a:rPr lang="en-GB" sz="1800" b="0" i="0" u="none" strike="noStrike">
                          <a:solidFill>
                            <a:srgbClr val="000000"/>
                          </a:solidFill>
                          <a:effectLst/>
                          <a:latin typeface="+mn-lt"/>
                        </a:rPr>
                        <a:t>Python API - Frontend Comm.</a:t>
                      </a:r>
                      <a:endParaRPr lang="en-GB" sz="1800">
                        <a:effectLst/>
                        <a:latin typeface="+mn-lt"/>
                      </a:endParaRPr>
                    </a:p>
                  </a:txBody>
                  <a:tcPr marL="63500" marR="63500" marT="63500" marB="63500"/>
                </a:tc>
                <a:tc>
                  <a:txBody>
                    <a:bodyPr/>
                    <a:lstStyle/>
                    <a:p>
                      <a:pPr marL="185420" algn="l">
                        <a:spcBef>
                          <a:spcPts val="40"/>
                        </a:spcBef>
                        <a:spcAft>
                          <a:spcPts val="0"/>
                        </a:spcAft>
                      </a:pPr>
                      <a:r>
                        <a:rPr lang="en-US" sz="1700" spc="-15" dirty="0">
                          <a:effectLst/>
                          <a:latin typeface="Times New Roman" panose="02020603050405020304" pitchFamily="18" charset="0"/>
                          <a:ea typeface="Times New Roman" panose="02020603050405020304" pitchFamily="18" charset="0"/>
                          <a:cs typeface="Times New Roman" panose="02020603050405020304" pitchFamily="18" charset="0"/>
                        </a:rPr>
                        <a:t>Mar  01</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spc="-20" dirty="0">
                          <a:effectLst/>
                          <a:latin typeface="Times New Roman" panose="02020603050405020304" pitchFamily="18" charset="0"/>
                          <a:ea typeface="Times New Roman" panose="02020603050405020304" pitchFamily="18" charset="0"/>
                          <a:cs typeface="Times New Roman" panose="02020603050405020304" pitchFamily="18" charset="0"/>
                        </a:rPr>
                        <a:t>2026</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140970" algn="l">
                        <a:spcBef>
                          <a:spcPts val="40"/>
                        </a:spcBef>
                        <a:spcAft>
                          <a:spcPts val="0"/>
                        </a:spcAft>
                      </a:pPr>
                      <a:r>
                        <a:rPr lang="en-US" sz="1700" spc="-10" dirty="0">
                          <a:effectLst/>
                          <a:latin typeface="Times New Roman" panose="02020603050405020304" pitchFamily="18" charset="0"/>
                          <a:ea typeface="Times New Roman" panose="02020603050405020304" pitchFamily="18" charset="0"/>
                          <a:cs typeface="Times New Roman" panose="02020603050405020304" pitchFamily="18" charset="0"/>
                        </a:rPr>
                        <a:t>Apr 01</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spc="-20" dirty="0">
                          <a:effectLst/>
                          <a:latin typeface="Times New Roman" panose="02020603050405020304" pitchFamily="18" charset="0"/>
                          <a:ea typeface="Times New Roman" panose="02020603050405020304" pitchFamily="18" charset="0"/>
                          <a:cs typeface="Times New Roman" panose="02020603050405020304" pitchFamily="18" charset="0"/>
                        </a:rPr>
                        <a:t>2026</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735" algn="ctr">
                        <a:spcBef>
                          <a:spcPts val="40"/>
                        </a:spcBef>
                        <a:spcAft>
                          <a:spcPts val="0"/>
                        </a:spcAft>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n-US" sz="1700" spc="-10" dirty="0">
                          <a:effectLst/>
                          <a:latin typeface="Times New Roman" panose="02020603050405020304" pitchFamily="18" charset="0"/>
                          <a:ea typeface="Times New Roman" panose="02020603050405020304" pitchFamily="18" charset="0"/>
                          <a:cs typeface="Times New Roman" panose="02020603050405020304" pitchFamily="18" charset="0"/>
                        </a:rPr>
                        <a:t> month</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898688279"/>
                  </a:ext>
                </a:extLst>
              </a:tr>
              <a:tr h="423616">
                <a:tc>
                  <a:txBody>
                    <a:bodyPr/>
                    <a:lstStyle/>
                    <a:p>
                      <a:pPr marL="49530" algn="ctr">
                        <a:spcBef>
                          <a:spcPts val="470"/>
                        </a:spcBef>
                        <a:spcAft>
                          <a:spcPts val="0"/>
                        </a:spcAft>
                      </a:pPr>
                      <a:r>
                        <a:rPr lang="en-US" sz="1800" spc="-25">
                          <a:effectLst/>
                          <a:latin typeface="Times New Roman" panose="02020603050405020304" pitchFamily="18" charset="0"/>
                          <a:ea typeface="Times New Roman" panose="02020603050405020304" pitchFamily="18" charset="0"/>
                          <a:cs typeface="Times New Roman" panose="02020603050405020304" pitchFamily="18" charset="0"/>
                        </a:rPr>
                        <a:t>T7</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l" rtl="0" fontAlgn="t">
                        <a:spcBef>
                          <a:spcPts val="0"/>
                        </a:spcBef>
                        <a:spcAft>
                          <a:spcPts val="0"/>
                        </a:spcAft>
                      </a:pPr>
                      <a:r>
                        <a:rPr lang="en-GB" sz="1800" b="0" i="0" u="none" strike="noStrike">
                          <a:solidFill>
                            <a:srgbClr val="000000"/>
                          </a:solidFill>
                          <a:effectLst/>
                          <a:latin typeface="+mn-lt"/>
                        </a:rPr>
                        <a:t>Web App Testing &amp; Debugging</a:t>
                      </a:r>
                      <a:endParaRPr lang="en-GB" sz="1800">
                        <a:effectLst/>
                        <a:latin typeface="+mn-lt"/>
                      </a:endParaRPr>
                    </a:p>
                  </a:txBody>
                  <a:tcPr marL="63500" marR="63500" marT="63500" marB="63500"/>
                </a:tc>
                <a:tc>
                  <a:txBody>
                    <a:bodyPr/>
                    <a:lstStyle/>
                    <a:p>
                      <a:pPr marL="198755" algn="l">
                        <a:spcBef>
                          <a:spcPts val="15"/>
                        </a:spcBef>
                        <a:spcAft>
                          <a:spcPts val="0"/>
                        </a:spcAft>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May 5,</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spc="-20" dirty="0">
                          <a:effectLst/>
                          <a:latin typeface="Times New Roman" panose="02020603050405020304" pitchFamily="18" charset="0"/>
                          <a:ea typeface="Times New Roman" panose="02020603050405020304" pitchFamily="18" charset="0"/>
                          <a:cs typeface="Times New Roman" panose="02020603050405020304" pitchFamily="18" charset="0"/>
                        </a:rPr>
                        <a:t>2026</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128905" algn="l">
                        <a:spcBef>
                          <a:spcPts val="15"/>
                        </a:spcBef>
                        <a:spcAft>
                          <a:spcPts val="0"/>
                        </a:spcAft>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Mar</a:t>
                      </a:r>
                      <a:r>
                        <a:rPr lang="en-US" sz="1700" spc="-15" dirty="0">
                          <a:effectLst/>
                          <a:latin typeface="Times New Roman" panose="02020603050405020304" pitchFamily="18" charset="0"/>
                          <a:ea typeface="Times New Roman" panose="02020603050405020304" pitchFamily="18" charset="0"/>
                          <a:cs typeface="Times New Roman" panose="02020603050405020304" pitchFamily="18" charset="0"/>
                        </a:rPr>
                        <a:t> 12</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spc="-20" dirty="0">
                          <a:effectLst/>
                          <a:latin typeface="Times New Roman" panose="02020603050405020304" pitchFamily="18" charset="0"/>
                          <a:ea typeface="Times New Roman" panose="02020603050405020304" pitchFamily="18" charset="0"/>
                          <a:cs typeface="Times New Roman" panose="02020603050405020304" pitchFamily="18" charset="0"/>
                        </a:rPr>
                        <a:t>2026</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735" algn="ctr">
                        <a:spcBef>
                          <a:spcPts val="15"/>
                        </a:spcBef>
                        <a:spcAft>
                          <a:spcPts val="0"/>
                        </a:spcAft>
                      </a:pPr>
                      <a:r>
                        <a:rPr lang="en-US" sz="1700" spc="-10" dirty="0">
                          <a:effectLst/>
                          <a:latin typeface="Times New Roman" panose="02020603050405020304" pitchFamily="18" charset="0"/>
                          <a:ea typeface="Times New Roman" panose="02020603050405020304" pitchFamily="18" charset="0"/>
                          <a:cs typeface="Times New Roman" panose="02020603050405020304" pitchFamily="18" charset="0"/>
                        </a:rPr>
                        <a:t>1 week</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361787968"/>
                  </a:ext>
                </a:extLst>
              </a:tr>
              <a:tr h="423616">
                <a:tc>
                  <a:txBody>
                    <a:bodyPr/>
                    <a:lstStyle/>
                    <a:p>
                      <a:pPr marL="49530" algn="ctr">
                        <a:spcBef>
                          <a:spcPts val="460"/>
                        </a:spcBef>
                        <a:spcAft>
                          <a:spcPts val="0"/>
                        </a:spcAft>
                      </a:pPr>
                      <a:r>
                        <a:rPr lang="en-US" sz="1800" spc="-25">
                          <a:effectLst/>
                          <a:latin typeface="Times New Roman" panose="02020603050405020304" pitchFamily="18" charset="0"/>
                          <a:ea typeface="Times New Roman" panose="02020603050405020304" pitchFamily="18" charset="0"/>
                          <a:cs typeface="Times New Roman" panose="02020603050405020304" pitchFamily="18" charset="0"/>
                        </a:rPr>
                        <a:t>T8</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l" rtl="0" fontAlgn="t">
                        <a:spcBef>
                          <a:spcPts val="0"/>
                        </a:spcBef>
                        <a:spcAft>
                          <a:spcPts val="0"/>
                        </a:spcAft>
                      </a:pPr>
                      <a:r>
                        <a:rPr lang="en-GB" sz="1800" b="0" i="0" u="none" strike="noStrike" dirty="0">
                          <a:solidFill>
                            <a:srgbClr val="000000"/>
                          </a:solidFill>
                          <a:effectLst/>
                          <a:latin typeface="+mn-lt"/>
                        </a:rPr>
                        <a:t>Final Report &amp; Presentation</a:t>
                      </a:r>
                      <a:endParaRPr lang="en-GB" sz="1800" dirty="0">
                        <a:effectLst/>
                        <a:latin typeface="+mn-lt"/>
                      </a:endParaRPr>
                    </a:p>
                  </a:txBody>
                  <a:tcPr marL="63500" marR="63500" marT="63500" marB="63500"/>
                </a:tc>
                <a:tc>
                  <a:txBody>
                    <a:bodyPr/>
                    <a:lstStyle/>
                    <a:p>
                      <a:pPr marL="160655" algn="l">
                        <a:lnSpc>
                          <a:spcPts val="1375"/>
                        </a:lnSpc>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May 15,</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spc="-20" dirty="0">
                          <a:effectLst/>
                          <a:latin typeface="Times New Roman" panose="02020603050405020304" pitchFamily="18" charset="0"/>
                          <a:ea typeface="Times New Roman" panose="02020603050405020304" pitchFamily="18" charset="0"/>
                          <a:cs typeface="Times New Roman" panose="02020603050405020304" pitchFamily="18" charset="0"/>
                        </a:rPr>
                        <a:t>2026</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55245" algn="l">
                        <a:lnSpc>
                          <a:spcPts val="1375"/>
                        </a:lnSpc>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 June 01,</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spc="-20" dirty="0">
                          <a:effectLst/>
                          <a:latin typeface="Times New Roman" panose="02020603050405020304" pitchFamily="18" charset="0"/>
                          <a:ea typeface="Times New Roman" panose="02020603050405020304" pitchFamily="18" charset="0"/>
                          <a:cs typeface="Times New Roman" panose="02020603050405020304" pitchFamily="18" charset="0"/>
                        </a:rPr>
                        <a:t>2026</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735" algn="ctr">
                        <a:lnSpc>
                          <a:spcPts val="1375"/>
                        </a:lnSpc>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15 </a:t>
                      </a:r>
                      <a:r>
                        <a:rPr lang="en-US" sz="1700" spc="-20" dirty="0">
                          <a:effectLst/>
                          <a:latin typeface="Times New Roman" panose="02020603050405020304" pitchFamily="18" charset="0"/>
                          <a:ea typeface="Times New Roman" panose="02020603050405020304" pitchFamily="18" charset="0"/>
                          <a:cs typeface="Times New Roman" panose="02020603050405020304" pitchFamily="18" charset="0"/>
                        </a:rPr>
                        <a:t>days</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73745110"/>
                  </a:ext>
                </a:extLst>
              </a:tr>
              <a:tr h="423616">
                <a:tc>
                  <a:txBody>
                    <a:bodyPr/>
                    <a:lstStyle/>
                    <a:p>
                      <a:pPr marL="49530" algn="ctr">
                        <a:spcBef>
                          <a:spcPts val="425"/>
                        </a:spcBef>
                        <a:spcAft>
                          <a:spcPts val="0"/>
                        </a:spcAft>
                      </a:pPr>
                      <a:r>
                        <a:rPr lang="en-US" sz="1800" spc="-25" dirty="0">
                          <a:effectLst/>
                          <a:latin typeface="Times New Roman" panose="02020603050405020304" pitchFamily="18" charset="0"/>
                          <a:ea typeface="Times New Roman" panose="02020603050405020304" pitchFamily="18" charset="0"/>
                          <a:cs typeface="Times New Roman" panose="02020603050405020304" pitchFamily="18" charset="0"/>
                        </a:rPr>
                        <a:t>T9</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l" rtl="0" fontAlgn="t">
                        <a:spcBef>
                          <a:spcPts val="0"/>
                        </a:spcBef>
                        <a:spcAft>
                          <a:spcPts val="0"/>
                        </a:spcAft>
                      </a:pPr>
                      <a:r>
                        <a:rPr lang="en-GB" sz="1800" b="0" i="0" u="none" strike="noStrike" dirty="0">
                          <a:solidFill>
                            <a:srgbClr val="000000"/>
                          </a:solidFill>
                          <a:effectLst/>
                          <a:latin typeface="+mn-lt"/>
                        </a:rPr>
                        <a:t>Communication &amp; Documents</a:t>
                      </a:r>
                      <a:endParaRPr lang="en-GB" sz="1800" dirty="0">
                        <a:effectLst/>
                        <a:latin typeface="+mn-lt"/>
                      </a:endParaRPr>
                    </a:p>
                  </a:txBody>
                  <a:tcPr marL="63500" marR="63500" marT="63500" marB="63500"/>
                </a:tc>
                <a:tc>
                  <a:txBody>
                    <a:bodyPr/>
                    <a:lstStyle/>
                    <a:p>
                      <a:pPr marL="206375" algn="l">
                        <a:lnSpc>
                          <a:spcPts val="1340"/>
                        </a:lnSpc>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June 05,</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spc="-20" dirty="0">
                          <a:effectLst/>
                          <a:latin typeface="Times New Roman" panose="02020603050405020304" pitchFamily="18" charset="0"/>
                          <a:ea typeface="Times New Roman" panose="02020603050405020304" pitchFamily="18" charset="0"/>
                          <a:cs typeface="Times New Roman" panose="02020603050405020304" pitchFamily="18" charset="0"/>
                        </a:rPr>
                        <a:t>2026</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136525" algn="l">
                        <a:lnSpc>
                          <a:spcPts val="1340"/>
                        </a:lnSpc>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June 25, </a:t>
                      </a:r>
                      <a:r>
                        <a:rPr lang="en-US" sz="1700" spc="-20" dirty="0">
                          <a:effectLst/>
                          <a:latin typeface="Times New Roman" panose="02020603050405020304" pitchFamily="18" charset="0"/>
                          <a:ea typeface="Times New Roman" panose="02020603050405020304" pitchFamily="18" charset="0"/>
                          <a:cs typeface="Times New Roman" panose="02020603050405020304" pitchFamily="18" charset="0"/>
                        </a:rPr>
                        <a:t>2026</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735" algn="ctr">
                        <a:lnSpc>
                          <a:spcPts val="1340"/>
                        </a:lnSpc>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10 </a:t>
                      </a:r>
                      <a:r>
                        <a:rPr lang="en-US" sz="1700" spc="-20" dirty="0">
                          <a:effectLst/>
                          <a:latin typeface="Times New Roman" panose="02020603050405020304" pitchFamily="18" charset="0"/>
                          <a:ea typeface="Times New Roman" panose="02020603050405020304" pitchFamily="18" charset="0"/>
                          <a:cs typeface="Times New Roman" panose="02020603050405020304" pitchFamily="18" charset="0"/>
                        </a:rPr>
                        <a:t>days</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3305070327"/>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0" name="Title 1"/>
          <p:cNvSpPr>
            <a:spLocks noGrp="1"/>
          </p:cNvSpPr>
          <p:nvPr>
            <p:ph type="title"/>
          </p:nvPr>
        </p:nvSpPr>
        <p:spPr/>
        <p:txBody>
          <a:bodyPr/>
          <a:lstStyle/>
          <a:p>
            <a:r>
              <a:rPr lang="en-US" dirty="0"/>
              <a:t>Project </a:t>
            </a:r>
            <a:r>
              <a:rPr lang="en-US" b="1" dirty="0"/>
              <a:t>Budgeting</a:t>
            </a:r>
          </a:p>
        </p:txBody>
      </p:sp>
      <p:sp>
        <p:nvSpPr>
          <p:cNvPr id="1048661" name="Footer Placeholder 3"/>
          <p:cNvSpPr>
            <a:spLocks noGrp="1"/>
          </p:cNvSpPr>
          <p:nvPr>
            <p:ph type="ftr" sz="quarter" idx="11"/>
          </p:nvPr>
        </p:nvSpPr>
        <p:spPr/>
        <p:txBody>
          <a:bodyPr/>
          <a:lstStyle/>
          <a:p>
            <a:pPr algn="ctr"/>
            <a:r>
              <a:rPr lang="en-US" sz="1400" dirty="0">
                <a:solidFill>
                  <a:schemeClr val="tx1"/>
                </a:solidFill>
              </a:rPr>
              <a:t>Web-Based Phishing Detection System</a:t>
            </a:r>
          </a:p>
        </p:txBody>
      </p:sp>
      <p:sp>
        <p:nvSpPr>
          <p:cNvPr id="1048662" name="Date Placeholder 5"/>
          <p:cNvSpPr>
            <a:spLocks noGrp="1"/>
          </p:cNvSpPr>
          <p:nvPr>
            <p:ph type="dt" sz="half" idx="10"/>
          </p:nvPr>
        </p:nvSpPr>
        <p:spPr/>
        <p:txBody>
          <a:bodyPr/>
          <a:lstStyle/>
          <a:p>
            <a:r>
              <a:rPr lang="en-US" dirty="0"/>
              <a:t>CS-FYP    Hamdard University </a:t>
            </a:r>
          </a:p>
        </p:txBody>
      </p:sp>
      <p:sp>
        <p:nvSpPr>
          <p:cNvPr id="1048663" name="Slide Number Placeholder 6"/>
          <p:cNvSpPr>
            <a:spLocks noGrp="1"/>
          </p:cNvSpPr>
          <p:nvPr>
            <p:ph type="sldNum" sz="quarter" idx="12"/>
          </p:nvPr>
        </p:nvSpPr>
        <p:spPr/>
        <p:txBody>
          <a:bodyPr/>
          <a:lstStyle/>
          <a:p>
            <a:fld id="{9EBC64C3-3FC7-4C40-910B-2643F037F02C}" type="slidenum">
              <a:rPr lang="en-US" smtClean="0"/>
              <a:t>13</a:t>
            </a:fld>
            <a:endParaRPr lang="en-US" dirty="0"/>
          </a:p>
        </p:txBody>
      </p:sp>
      <p:graphicFrame>
        <p:nvGraphicFramePr>
          <p:cNvPr id="2" name="Content Placeholder 1">
            <a:extLst>
              <a:ext uri="{FF2B5EF4-FFF2-40B4-BE49-F238E27FC236}">
                <a16:creationId xmlns:a16="http://schemas.microsoft.com/office/drawing/2014/main" id="{9FAF6197-7DF4-340E-B753-FC88A87F0D84}"/>
              </a:ext>
            </a:extLst>
          </p:cNvPr>
          <p:cNvGraphicFramePr>
            <a:graphicFrameLocks noGrp="1"/>
          </p:cNvGraphicFramePr>
          <p:nvPr>
            <p:ph sz="quarter" idx="1"/>
            <p:extLst>
              <p:ext uri="{D42A27DB-BD31-4B8C-83A1-F6EECF244321}">
                <p14:modId xmlns:p14="http://schemas.microsoft.com/office/powerpoint/2010/main" val="2599795640"/>
              </p:ext>
            </p:extLst>
          </p:nvPr>
        </p:nvGraphicFramePr>
        <p:xfrm>
          <a:off x="612775" y="1676400"/>
          <a:ext cx="8150225" cy="4491101"/>
        </p:xfrm>
        <a:graphic>
          <a:graphicData uri="http://schemas.openxmlformats.org/drawingml/2006/table">
            <a:tbl>
              <a:tblPr firstRow="1" bandRow="1">
                <a:tableStyleId>{5C22544A-7EE6-4342-B048-85BDC9FD1C3A}</a:tableStyleId>
              </a:tblPr>
              <a:tblGrid>
                <a:gridCol w="2510447">
                  <a:extLst>
                    <a:ext uri="{9D8B030D-6E8A-4147-A177-3AD203B41FA5}">
                      <a16:colId xmlns:a16="http://schemas.microsoft.com/office/drawing/2014/main" val="3055796375"/>
                    </a:ext>
                  </a:extLst>
                </a:gridCol>
                <a:gridCol w="4113197">
                  <a:extLst>
                    <a:ext uri="{9D8B030D-6E8A-4147-A177-3AD203B41FA5}">
                      <a16:colId xmlns:a16="http://schemas.microsoft.com/office/drawing/2014/main" val="1116180106"/>
                    </a:ext>
                  </a:extLst>
                </a:gridCol>
                <a:gridCol w="1526581">
                  <a:extLst>
                    <a:ext uri="{9D8B030D-6E8A-4147-A177-3AD203B41FA5}">
                      <a16:colId xmlns:a16="http://schemas.microsoft.com/office/drawing/2014/main" val="2875066246"/>
                    </a:ext>
                  </a:extLst>
                </a:gridCol>
              </a:tblGrid>
              <a:tr h="319532">
                <a:tc>
                  <a:txBody>
                    <a:bodyPr/>
                    <a:lstStyle/>
                    <a:p>
                      <a:pPr algn="ctr"/>
                      <a:r>
                        <a:rPr lang="en-GB" dirty="0">
                          <a:solidFill>
                            <a:schemeClr val="tx1"/>
                          </a:solidFill>
                        </a:rPr>
                        <a:t>Category</a:t>
                      </a:r>
                      <a:endParaRPr lang="LID4096" dirty="0">
                        <a:solidFill>
                          <a:schemeClr val="tx1"/>
                        </a:solidFill>
                      </a:endParaRPr>
                    </a:p>
                  </a:txBody>
                  <a:tcPr/>
                </a:tc>
                <a:tc>
                  <a:txBody>
                    <a:bodyPr/>
                    <a:lstStyle/>
                    <a:p>
                      <a:pPr algn="ctr"/>
                      <a:r>
                        <a:rPr lang="en-GB" dirty="0">
                          <a:solidFill>
                            <a:schemeClr val="tx1"/>
                          </a:solidFill>
                        </a:rPr>
                        <a:t>Item Description</a:t>
                      </a:r>
                      <a:endParaRPr lang="LID4096" dirty="0">
                        <a:solidFill>
                          <a:schemeClr val="tx1"/>
                        </a:solidFill>
                      </a:endParaRPr>
                    </a:p>
                  </a:txBody>
                  <a:tcPr/>
                </a:tc>
                <a:tc>
                  <a:txBody>
                    <a:bodyPr/>
                    <a:lstStyle/>
                    <a:p>
                      <a:pPr algn="ctr"/>
                      <a:r>
                        <a:rPr lang="en-GB" dirty="0">
                          <a:solidFill>
                            <a:schemeClr val="tx1"/>
                          </a:solidFill>
                        </a:rPr>
                        <a:t>Cost (PKR)</a:t>
                      </a:r>
                      <a:endParaRPr lang="LID4096" dirty="0">
                        <a:solidFill>
                          <a:schemeClr val="tx1"/>
                        </a:solidFill>
                      </a:endParaRPr>
                    </a:p>
                  </a:txBody>
                  <a:tcPr/>
                </a:tc>
                <a:extLst>
                  <a:ext uri="{0D108BD9-81ED-4DB2-BD59-A6C34878D82A}">
                    <a16:rowId xmlns:a16="http://schemas.microsoft.com/office/drawing/2014/main" val="2600629163"/>
                  </a:ext>
                </a:extLst>
              </a:tr>
              <a:tr h="1278128">
                <a:tc>
                  <a:txBody>
                    <a:bodyPr/>
                    <a:lstStyle/>
                    <a:p>
                      <a:pPr marL="0" indent="0">
                        <a:buNone/>
                      </a:pPr>
                      <a:r>
                        <a:rPr lang="en-GB" dirty="0"/>
                        <a:t>1. Equipment</a:t>
                      </a:r>
                    </a:p>
                    <a:p>
                      <a:pPr marL="0" indent="0">
                        <a:buNone/>
                      </a:pPr>
                      <a:r>
                        <a:rPr lang="en-GB" dirty="0"/>
                        <a:t>- Laptops (3 units)</a:t>
                      </a:r>
                    </a:p>
                    <a:p>
                      <a:endParaRPr lang="en-GB" dirty="0"/>
                    </a:p>
                    <a:p>
                      <a:r>
                        <a:rPr lang="en-GB" dirty="0"/>
                        <a:t>1. Internet</a:t>
                      </a:r>
                    </a:p>
                    <a:p>
                      <a:r>
                        <a:rPr lang="en-GB" dirty="0"/>
                        <a:t>- Monthly Internet / Data</a:t>
                      </a:r>
                      <a:endParaRPr lang="LID4096" dirty="0"/>
                    </a:p>
                  </a:txBody>
                  <a:tcPr/>
                </a:tc>
                <a:tc>
                  <a:txBody>
                    <a:bodyPr/>
                    <a:lstStyle/>
                    <a:p>
                      <a:pPr algn="l"/>
                      <a:r>
                        <a:rPr lang="en-GB" dirty="0"/>
                        <a:t>PKR 230,000 (high-end laptops)</a:t>
                      </a:r>
                    </a:p>
                    <a:p>
                      <a:pPr algn="l"/>
                      <a:endParaRPr lang="en-GB" dirty="0"/>
                    </a:p>
                    <a:p>
                      <a:pPr algn="l"/>
                      <a:endParaRPr lang="en-GB" dirty="0"/>
                    </a:p>
                    <a:p>
                      <a:pPr algn="l"/>
                      <a:r>
                        <a:rPr lang="en-GB" dirty="0"/>
                        <a:t>PKR 1300/month x 12 months x 3 students</a:t>
                      </a:r>
                      <a:endParaRPr lang="LID4096" dirty="0"/>
                    </a:p>
                  </a:txBody>
                  <a:tcPr/>
                </a:tc>
                <a:tc>
                  <a:txBody>
                    <a:bodyPr/>
                    <a:lstStyle/>
                    <a:p>
                      <a:pPr algn="ctr"/>
                      <a:r>
                        <a:rPr lang="en-GB" dirty="0"/>
                        <a:t>PKR 230,000</a:t>
                      </a:r>
                    </a:p>
                    <a:p>
                      <a:pPr algn="ctr"/>
                      <a:endParaRPr lang="en-GB" dirty="0"/>
                    </a:p>
                    <a:p>
                      <a:pPr algn="ctr"/>
                      <a:endParaRPr lang="en-GB" dirty="0"/>
                    </a:p>
                    <a:p>
                      <a:pPr algn="ctr"/>
                      <a:r>
                        <a:rPr lang="en-GB" dirty="0"/>
                        <a:t>PKR 46,800</a:t>
                      </a:r>
                      <a:endParaRPr lang="LID4096" dirty="0"/>
                    </a:p>
                  </a:txBody>
                  <a:tcPr/>
                </a:tc>
                <a:extLst>
                  <a:ext uri="{0D108BD9-81ED-4DB2-BD59-A6C34878D82A}">
                    <a16:rowId xmlns:a16="http://schemas.microsoft.com/office/drawing/2014/main" val="1121196060"/>
                  </a:ext>
                </a:extLst>
              </a:tr>
              <a:tr h="319532">
                <a:tc>
                  <a:txBody>
                    <a:bodyPr/>
                    <a:lstStyle/>
                    <a:p>
                      <a:endParaRPr lang="LID4096" dirty="0"/>
                    </a:p>
                  </a:txBody>
                  <a:tcPr/>
                </a:tc>
                <a:tc>
                  <a:txBody>
                    <a:bodyPr/>
                    <a:lstStyle/>
                    <a:p>
                      <a:pPr algn="l"/>
                      <a:endParaRPr lang="LID4096" dirty="0"/>
                    </a:p>
                  </a:txBody>
                  <a:tcPr/>
                </a:tc>
                <a:tc>
                  <a:txBody>
                    <a:bodyPr/>
                    <a:lstStyle/>
                    <a:p>
                      <a:pPr algn="ctr"/>
                      <a:endParaRPr lang="LID4096" dirty="0"/>
                    </a:p>
                  </a:txBody>
                  <a:tcPr/>
                </a:tc>
                <a:extLst>
                  <a:ext uri="{0D108BD9-81ED-4DB2-BD59-A6C34878D82A}">
                    <a16:rowId xmlns:a16="http://schemas.microsoft.com/office/drawing/2014/main" val="3710361764"/>
                  </a:ext>
                </a:extLst>
              </a:tr>
              <a:tr h="559181">
                <a:tc>
                  <a:txBody>
                    <a:bodyPr/>
                    <a:lstStyle/>
                    <a:p>
                      <a:r>
                        <a:rPr lang="en-GB" dirty="0"/>
                        <a:t>2. Transport</a:t>
                      </a:r>
                    </a:p>
                    <a:p>
                      <a:r>
                        <a:rPr lang="en-GB" dirty="0"/>
                        <a:t>-  Monthly Transport</a:t>
                      </a:r>
                      <a:endParaRPr lang="LID4096" dirty="0"/>
                    </a:p>
                  </a:txBody>
                  <a:tcPr/>
                </a:tc>
                <a:tc>
                  <a:txBody>
                    <a:bodyPr/>
                    <a:lstStyle/>
                    <a:p>
                      <a:pPr algn="l"/>
                      <a:r>
                        <a:rPr lang="en-GB" dirty="0"/>
                        <a:t>PKR 1500 x 12 months x 3 students</a:t>
                      </a:r>
                      <a:endParaRPr lang="LID4096" dirty="0"/>
                    </a:p>
                  </a:txBody>
                  <a:tcPr/>
                </a:tc>
                <a:tc>
                  <a:txBody>
                    <a:bodyPr/>
                    <a:lstStyle/>
                    <a:p>
                      <a:pPr algn="ctr"/>
                      <a:r>
                        <a:rPr lang="en-GB" dirty="0"/>
                        <a:t>PKR 54,000</a:t>
                      </a:r>
                      <a:endParaRPr lang="LID4096" dirty="0"/>
                    </a:p>
                  </a:txBody>
                  <a:tcPr/>
                </a:tc>
                <a:extLst>
                  <a:ext uri="{0D108BD9-81ED-4DB2-BD59-A6C34878D82A}">
                    <a16:rowId xmlns:a16="http://schemas.microsoft.com/office/drawing/2014/main" val="1471346889"/>
                  </a:ext>
                </a:extLst>
              </a:tr>
              <a:tr h="319532">
                <a:tc>
                  <a:txBody>
                    <a:bodyPr/>
                    <a:lstStyle/>
                    <a:p>
                      <a:endParaRPr lang="LID4096" dirty="0"/>
                    </a:p>
                  </a:txBody>
                  <a:tcPr/>
                </a:tc>
                <a:tc>
                  <a:txBody>
                    <a:bodyPr/>
                    <a:lstStyle/>
                    <a:p>
                      <a:pPr algn="l"/>
                      <a:endParaRPr lang="LID4096" dirty="0"/>
                    </a:p>
                  </a:txBody>
                  <a:tcPr/>
                </a:tc>
                <a:tc>
                  <a:txBody>
                    <a:bodyPr/>
                    <a:lstStyle/>
                    <a:p>
                      <a:pPr algn="ctr"/>
                      <a:endParaRPr lang="LID4096" dirty="0"/>
                    </a:p>
                  </a:txBody>
                  <a:tcPr/>
                </a:tc>
                <a:extLst>
                  <a:ext uri="{0D108BD9-81ED-4DB2-BD59-A6C34878D82A}">
                    <a16:rowId xmlns:a16="http://schemas.microsoft.com/office/drawing/2014/main" val="3711217012"/>
                  </a:ext>
                </a:extLst>
              </a:tr>
              <a:tr h="319532">
                <a:tc>
                  <a:txBody>
                    <a:bodyPr/>
                    <a:lstStyle/>
                    <a:p>
                      <a:r>
                        <a:rPr lang="en-GB" dirty="0"/>
                        <a:t>3. Miscellaneous Funds</a:t>
                      </a:r>
                      <a:endParaRPr lang="LID4096" dirty="0"/>
                    </a:p>
                  </a:txBody>
                  <a:tcPr/>
                </a:tc>
                <a:tc>
                  <a:txBody>
                    <a:bodyPr/>
                    <a:lstStyle/>
                    <a:p>
                      <a:pPr algn="l"/>
                      <a:r>
                        <a:rPr lang="en-GB" dirty="0"/>
                        <a:t>Repairs, software, printing, etc..</a:t>
                      </a:r>
                      <a:endParaRPr lang="LID4096" dirty="0"/>
                    </a:p>
                  </a:txBody>
                  <a:tcPr/>
                </a:tc>
                <a:tc>
                  <a:txBody>
                    <a:bodyPr/>
                    <a:lstStyle/>
                    <a:p>
                      <a:pPr algn="ctr"/>
                      <a:r>
                        <a:rPr lang="en-GB" dirty="0"/>
                        <a:t>PKR 30,000</a:t>
                      </a:r>
                      <a:endParaRPr lang="LID4096" dirty="0"/>
                    </a:p>
                  </a:txBody>
                  <a:tcPr/>
                </a:tc>
                <a:extLst>
                  <a:ext uri="{0D108BD9-81ED-4DB2-BD59-A6C34878D82A}">
                    <a16:rowId xmlns:a16="http://schemas.microsoft.com/office/drawing/2014/main" val="4260503435"/>
                  </a:ext>
                </a:extLst>
              </a:tr>
              <a:tr h="319532">
                <a:tc>
                  <a:txBody>
                    <a:bodyPr/>
                    <a:lstStyle/>
                    <a:p>
                      <a:r>
                        <a:rPr lang="en-GB" dirty="0"/>
                        <a:t>- Stationery &amp; Supplies</a:t>
                      </a:r>
                      <a:endParaRPr lang="LID4096" dirty="0"/>
                    </a:p>
                  </a:txBody>
                  <a:tcPr/>
                </a:tc>
                <a:tc>
                  <a:txBody>
                    <a:bodyPr/>
                    <a:lstStyle/>
                    <a:p>
                      <a:pPr algn="l"/>
                      <a:r>
                        <a:rPr lang="en-GB" dirty="0"/>
                        <a:t>Notebooks, pens, etc..</a:t>
                      </a:r>
                      <a:endParaRPr lang="LID4096" dirty="0"/>
                    </a:p>
                  </a:txBody>
                  <a:tcPr/>
                </a:tc>
                <a:tc>
                  <a:txBody>
                    <a:bodyPr/>
                    <a:lstStyle/>
                    <a:p>
                      <a:pPr algn="ctr"/>
                      <a:r>
                        <a:rPr lang="en-GB" b="0" dirty="0"/>
                        <a:t>PKR 10,000</a:t>
                      </a:r>
                      <a:endParaRPr lang="LID4096" b="0" dirty="0"/>
                    </a:p>
                  </a:txBody>
                  <a:tcPr/>
                </a:tc>
                <a:extLst>
                  <a:ext uri="{0D108BD9-81ED-4DB2-BD59-A6C34878D82A}">
                    <a16:rowId xmlns:a16="http://schemas.microsoft.com/office/drawing/2014/main" val="1946203543"/>
                  </a:ext>
                </a:extLst>
              </a:tr>
              <a:tr h="559181">
                <a:tc>
                  <a:txBody>
                    <a:bodyPr/>
                    <a:lstStyle/>
                    <a:p>
                      <a:pPr algn="ctr"/>
                      <a:r>
                        <a:rPr lang="en-GB" b="1" dirty="0"/>
                        <a:t>TOTAL</a:t>
                      </a:r>
                    </a:p>
                  </a:txBody>
                  <a:tcPr anchor="ctr"/>
                </a:tc>
                <a:tc>
                  <a:txBody>
                    <a:bodyPr/>
                    <a:lstStyle/>
                    <a:p>
                      <a:pPr algn="l"/>
                      <a:endParaRPr lang="LID4096" dirty="0"/>
                    </a:p>
                  </a:txBody>
                  <a:tcPr anchor="ctr"/>
                </a:tc>
                <a:tc>
                  <a:txBody>
                    <a:bodyPr/>
                    <a:lstStyle/>
                    <a:p>
                      <a:pPr algn="ctr"/>
                      <a:r>
                        <a:rPr lang="en-GB" b="1" dirty="0"/>
                        <a:t>PKR 3,70,800</a:t>
                      </a:r>
                      <a:endParaRPr lang="LID4096" b="1" dirty="0"/>
                    </a:p>
                  </a:txBody>
                  <a:tcPr anchor="ctr"/>
                </a:tc>
                <a:extLst>
                  <a:ext uri="{0D108BD9-81ED-4DB2-BD59-A6C34878D82A}">
                    <a16:rowId xmlns:a16="http://schemas.microsoft.com/office/drawing/2014/main" val="296770466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5" name="Title 1"/>
          <p:cNvSpPr>
            <a:spLocks noGrp="1"/>
          </p:cNvSpPr>
          <p:nvPr>
            <p:ph type="title"/>
          </p:nvPr>
        </p:nvSpPr>
        <p:spPr/>
        <p:txBody>
          <a:bodyPr/>
          <a:lstStyle/>
          <a:p>
            <a:r>
              <a:rPr lang="en-US" dirty="0"/>
              <a:t>Project </a:t>
            </a:r>
            <a:r>
              <a:rPr lang="en-US" b="1" dirty="0"/>
              <a:t>Tools</a:t>
            </a:r>
            <a:r>
              <a:rPr lang="en-US" dirty="0"/>
              <a:t> </a:t>
            </a:r>
          </a:p>
        </p:txBody>
      </p:sp>
      <p:sp>
        <p:nvSpPr>
          <p:cNvPr id="1048669" name="Content Placeholder 2"/>
          <p:cNvSpPr>
            <a:spLocks noGrp="1"/>
          </p:cNvSpPr>
          <p:nvPr>
            <p:ph sz="quarter" idx="2"/>
          </p:nvPr>
        </p:nvSpPr>
        <p:spPr/>
        <p:txBody>
          <a:bodyPr>
            <a:normAutofit fontScale="95000"/>
          </a:bodyPr>
          <a:lstStyle/>
          <a:p>
            <a:pPr marL="273050" lvl="1" indent="-273050">
              <a:buClr>
                <a:schemeClr val="accent2"/>
              </a:buClr>
              <a:buFont typeface="Wingdings" panose="05000000000000000000" pitchFamily="2" charset="2"/>
              <a:buChar char="q"/>
            </a:pPr>
            <a:r>
              <a:rPr lang="en-US" sz="1800" dirty="0"/>
              <a:t>Visual Code </a:t>
            </a:r>
          </a:p>
          <a:p>
            <a:pPr marL="273050" lvl="1" indent="-273050">
              <a:buClr>
                <a:schemeClr val="accent2"/>
              </a:buClr>
              <a:buFont typeface="Wingdings" panose="05000000000000000000" pitchFamily="2" charset="2"/>
              <a:buChar char="q"/>
            </a:pPr>
            <a:r>
              <a:rPr lang="en-US" sz="1800" dirty="0"/>
              <a:t>Python Flask/</a:t>
            </a:r>
            <a:r>
              <a:rPr lang="en-US" sz="1800" dirty="0" err="1"/>
              <a:t>FastAPI</a:t>
            </a:r>
            <a:r>
              <a:rPr lang="en-US" sz="1800" dirty="0"/>
              <a:t> frameworks</a:t>
            </a:r>
          </a:p>
          <a:p>
            <a:pPr marL="273050" lvl="1" indent="-273050">
              <a:buClr>
                <a:schemeClr val="accent2"/>
              </a:buClr>
              <a:buFont typeface="Wingdings" panose="05000000000000000000" pitchFamily="2" charset="2"/>
              <a:buChar char="q"/>
            </a:pPr>
            <a:r>
              <a:rPr lang="en-US" sz="1800" dirty="0"/>
              <a:t>Tensor Flow</a:t>
            </a:r>
          </a:p>
          <a:p>
            <a:pPr marL="273050" lvl="1" indent="-273050">
              <a:buClr>
                <a:schemeClr val="accent2"/>
              </a:buClr>
              <a:buFont typeface="Wingdings" panose="05000000000000000000" pitchFamily="2" charset="2"/>
              <a:buChar char="q"/>
            </a:pPr>
            <a:r>
              <a:rPr lang="en-US" sz="1800" dirty="0"/>
              <a:t>MySQL</a:t>
            </a:r>
          </a:p>
          <a:p>
            <a:pPr marL="273050" lvl="1" indent="-273050">
              <a:buClr>
                <a:schemeClr val="accent2"/>
              </a:buClr>
              <a:buFont typeface="Wingdings" panose="05000000000000000000" pitchFamily="2" charset="2"/>
              <a:buChar char="q"/>
            </a:pPr>
            <a:r>
              <a:rPr lang="en-US" sz="1800" dirty="0"/>
              <a:t>GitHub</a:t>
            </a:r>
          </a:p>
        </p:txBody>
      </p:sp>
      <p:sp>
        <p:nvSpPr>
          <p:cNvPr id="4" name="Content Placeholder 3"/>
          <p:cNvSpPr>
            <a:spLocks noGrp="1"/>
          </p:cNvSpPr>
          <p:nvPr>
            <p:ph sz="quarter" idx="4"/>
          </p:nvPr>
        </p:nvSpPr>
        <p:spPr/>
        <p:txBody>
          <a:bodyPr>
            <a:normAutofit/>
          </a:bodyPr>
          <a:lstStyle/>
          <a:p>
            <a:pPr marL="282575" lvl="1" indent="-273050">
              <a:buClr>
                <a:schemeClr val="accent2"/>
              </a:buClr>
              <a:buFont typeface="Wingdings" panose="05000000000000000000" pitchFamily="2" charset="2"/>
              <a:buChar char="q"/>
            </a:pPr>
            <a:r>
              <a:rPr lang="en-US" sz="1800" dirty="0"/>
              <a:t>Laptop (Multi-Core, i9, 16GB, 500GB SSD)</a:t>
            </a:r>
          </a:p>
          <a:p>
            <a:pPr marL="282575" lvl="1" indent="-273050">
              <a:buClr>
                <a:schemeClr val="accent2"/>
              </a:buClr>
              <a:buFont typeface="Wingdings" panose="05000000000000000000" pitchFamily="2" charset="2"/>
              <a:buChar char="q"/>
            </a:pPr>
            <a:r>
              <a:rPr lang="en-US" sz="1800" dirty="0"/>
              <a:t>Backup Hard drives</a:t>
            </a:r>
          </a:p>
          <a:p>
            <a:pPr marL="282575" lvl="1" indent="-273050">
              <a:buClr>
                <a:schemeClr val="accent2"/>
              </a:buClr>
              <a:buFont typeface="Wingdings" panose="05000000000000000000" pitchFamily="2" charset="2"/>
              <a:buChar char="q"/>
            </a:pPr>
            <a:r>
              <a:rPr lang="en-US" sz="1800" dirty="0"/>
              <a:t>Internet dongle</a:t>
            </a:r>
          </a:p>
          <a:p>
            <a:pPr marL="282575" lvl="1" indent="-273050">
              <a:buClr>
                <a:schemeClr val="accent2"/>
              </a:buClr>
              <a:buFont typeface="Wingdings" panose="05000000000000000000" pitchFamily="2" charset="2"/>
              <a:buChar char="q"/>
            </a:pPr>
            <a:r>
              <a:rPr lang="en-US" sz="1800" dirty="0"/>
              <a:t>Printer</a:t>
            </a:r>
          </a:p>
        </p:txBody>
      </p:sp>
      <p:sp>
        <p:nvSpPr>
          <p:cNvPr id="1048667" name="Date Placeholder 5"/>
          <p:cNvSpPr>
            <a:spLocks noGrp="1"/>
          </p:cNvSpPr>
          <p:nvPr>
            <p:ph type="dt" sz="half" idx="15"/>
          </p:nvPr>
        </p:nvSpPr>
        <p:spPr>
          <a:solidFill>
            <a:srgbClr val="008000"/>
          </a:solidFill>
        </p:spPr>
        <p:txBody>
          <a:bodyPr/>
          <a:lstStyle/>
          <a:p>
            <a:r>
              <a:rPr lang="en-US" dirty="0">
                <a:solidFill>
                  <a:schemeClr val="bg1"/>
                </a:solidFill>
              </a:rPr>
              <a:t>CS-FYP    </a:t>
            </a:r>
            <a:r>
              <a:rPr lang="en-US" dirty="0" err="1">
                <a:solidFill>
                  <a:schemeClr val="bg1"/>
                </a:solidFill>
              </a:rPr>
              <a:t>Hamdard</a:t>
            </a:r>
            <a:r>
              <a:rPr lang="en-US" dirty="0">
                <a:solidFill>
                  <a:schemeClr val="bg1"/>
                </a:solidFill>
              </a:rPr>
              <a:t> University </a:t>
            </a:r>
          </a:p>
        </p:txBody>
      </p:sp>
      <p:sp>
        <p:nvSpPr>
          <p:cNvPr id="1048668" name="Slide Number Placeholder 6"/>
          <p:cNvSpPr>
            <a:spLocks noGrp="1"/>
          </p:cNvSpPr>
          <p:nvPr>
            <p:ph type="sldNum" sz="quarter" idx="16"/>
          </p:nvPr>
        </p:nvSpPr>
        <p:spPr/>
        <p:txBody>
          <a:bodyPr>
            <a:normAutofit fontScale="85000" lnSpcReduction="20000"/>
          </a:bodyPr>
          <a:lstStyle/>
          <a:p>
            <a:fld id="{9EBC64C3-3FC7-4C40-910B-2643F037F02C}" type="slidenum">
              <a:rPr lang="en-US" smtClean="0"/>
              <a:t>14</a:t>
            </a:fld>
            <a:endParaRPr lang="en-US" dirty="0"/>
          </a:p>
        </p:txBody>
      </p:sp>
      <p:sp>
        <p:nvSpPr>
          <p:cNvPr id="1048666" name="Footer Placeholder 3"/>
          <p:cNvSpPr>
            <a:spLocks noGrp="1"/>
          </p:cNvSpPr>
          <p:nvPr>
            <p:ph type="ftr" sz="quarter" idx="17"/>
          </p:nvPr>
        </p:nvSpPr>
        <p:spPr>
          <a:solidFill>
            <a:srgbClr val="F86308"/>
          </a:solidFill>
        </p:spPr>
        <p:txBody>
          <a:bodyPr/>
          <a:lstStyle/>
          <a:p>
            <a:pPr algn="ctr"/>
            <a:r>
              <a:rPr lang="en-US" sz="1400" dirty="0">
                <a:solidFill>
                  <a:schemeClr val="tx1"/>
                </a:solidFill>
              </a:rPr>
              <a:t>Web-Based Phishing Detection System</a:t>
            </a:r>
          </a:p>
        </p:txBody>
      </p:sp>
      <p:sp>
        <p:nvSpPr>
          <p:cNvPr id="2" name="Text Placeholder 1"/>
          <p:cNvSpPr>
            <a:spLocks noGrp="1"/>
          </p:cNvSpPr>
          <p:nvPr>
            <p:ph type="body" sz="quarter" idx="1"/>
          </p:nvPr>
        </p:nvSpPr>
        <p:spPr/>
        <p:txBody>
          <a:bodyPr/>
          <a:lstStyle/>
          <a:p>
            <a:r>
              <a:rPr lang="en-US" dirty="0">
                <a:solidFill>
                  <a:schemeClr val="bg2">
                    <a:lumMod val="10000"/>
                  </a:schemeClr>
                </a:solidFill>
              </a:rPr>
              <a:t>Software Requirements</a:t>
            </a:r>
          </a:p>
        </p:txBody>
      </p:sp>
      <p:sp>
        <p:nvSpPr>
          <p:cNvPr id="3" name="Text Placeholder 2"/>
          <p:cNvSpPr>
            <a:spLocks noGrp="1"/>
          </p:cNvSpPr>
          <p:nvPr>
            <p:ph type="body" sz="quarter" idx="3"/>
          </p:nvPr>
        </p:nvSpPr>
        <p:spPr/>
        <p:txBody>
          <a:bodyPr/>
          <a:lstStyle/>
          <a:p>
            <a:r>
              <a:rPr lang="en-US" dirty="0">
                <a:solidFill>
                  <a:schemeClr val="bg2">
                    <a:lumMod val="10000"/>
                  </a:schemeClr>
                </a:solidFill>
              </a:rPr>
              <a:t>Hardware Requirements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0" name="Title 1"/>
          <p:cNvSpPr>
            <a:spLocks noGrp="1"/>
          </p:cNvSpPr>
          <p:nvPr>
            <p:ph type="title"/>
          </p:nvPr>
        </p:nvSpPr>
        <p:spPr/>
        <p:txBody>
          <a:bodyPr/>
          <a:lstStyle/>
          <a:p>
            <a:r>
              <a:rPr lang="en-US" dirty="0"/>
              <a:t>8- Project </a:t>
            </a:r>
            <a:r>
              <a:rPr lang="en-US" b="1" dirty="0"/>
              <a:t>Deliverables</a:t>
            </a:r>
          </a:p>
        </p:txBody>
      </p:sp>
      <p:sp>
        <p:nvSpPr>
          <p:cNvPr id="1048674" name="Content Placeholder 5"/>
          <p:cNvSpPr>
            <a:spLocks noGrp="1"/>
          </p:cNvSpPr>
          <p:nvPr>
            <p:ph sz="quarter" idx="2"/>
          </p:nvPr>
        </p:nvSpPr>
        <p:spPr/>
        <p:txBody>
          <a:bodyPr>
            <a:normAutofit fontScale="93864"/>
          </a:bodyPr>
          <a:lstStyle/>
          <a:p>
            <a:pPr marL="0" indent="0">
              <a:buNone/>
            </a:pPr>
            <a:r>
              <a:rPr lang="en-US" sz="1700" dirty="0"/>
              <a:t>SRS Document</a:t>
            </a:r>
          </a:p>
          <a:p>
            <a:pPr marL="0" indent="0">
              <a:buNone/>
            </a:pPr>
            <a:r>
              <a:rPr lang="en-US" sz="1700" dirty="0"/>
              <a:t>Budget Document</a:t>
            </a:r>
          </a:p>
          <a:p>
            <a:pPr marL="0" indent="0">
              <a:buNone/>
            </a:pPr>
            <a:r>
              <a:rPr lang="en-US" sz="1700" dirty="0"/>
              <a:t>Work </a:t>
            </a:r>
            <a:r>
              <a:rPr lang="en-US" sz="1700"/>
              <a:t>Breakdown Structure</a:t>
            </a:r>
            <a:endParaRPr lang="en-US" sz="1700" dirty="0"/>
          </a:p>
          <a:p>
            <a:pPr marL="0" indent="0">
              <a:buNone/>
            </a:pPr>
            <a:r>
              <a:rPr lang="en-US" sz="1700" dirty="0"/>
              <a:t>Project Plan</a:t>
            </a:r>
          </a:p>
          <a:p>
            <a:pPr marL="0" indent="0">
              <a:buNone/>
            </a:pPr>
            <a:r>
              <a:rPr lang="en-US" sz="1700" dirty="0"/>
              <a:t>Design Mockup</a:t>
            </a:r>
          </a:p>
          <a:p>
            <a:pPr marL="0" indent="0">
              <a:buNone/>
            </a:pPr>
            <a:r>
              <a:rPr lang="en-US" sz="1700" dirty="0"/>
              <a:t>Data Collection Interface</a:t>
            </a:r>
          </a:p>
          <a:p>
            <a:pPr marL="0" indent="0">
              <a:buNone/>
            </a:pPr>
            <a:r>
              <a:rPr lang="en-US" sz="1700" dirty="0"/>
              <a:t>Project Report - I</a:t>
            </a:r>
          </a:p>
          <a:p>
            <a:pPr marL="0" indent="0">
              <a:buNone/>
            </a:pPr>
            <a:r>
              <a:rPr lang="en-US" sz="1700" dirty="0"/>
              <a:t>Funding Proposal</a:t>
            </a:r>
          </a:p>
          <a:p>
            <a:pPr marL="0" indent="0">
              <a:buNone/>
            </a:pPr>
            <a:r>
              <a:rPr lang="en-US" sz="1800" dirty="0"/>
              <a:t>Proposed System </a:t>
            </a:r>
          </a:p>
          <a:p>
            <a:pPr marL="0" indent="0">
              <a:buNone/>
            </a:pPr>
            <a:endParaRPr lang="en-US" sz="1700" dirty="0"/>
          </a:p>
        </p:txBody>
      </p:sp>
      <p:sp>
        <p:nvSpPr>
          <p:cNvPr id="4" name="Content Placeholder 3"/>
          <p:cNvSpPr>
            <a:spLocks noGrp="1"/>
          </p:cNvSpPr>
          <p:nvPr>
            <p:ph sz="quarter" idx="4"/>
          </p:nvPr>
        </p:nvSpPr>
        <p:spPr/>
        <p:txBody>
          <a:bodyPr>
            <a:normAutofit/>
          </a:bodyPr>
          <a:lstStyle/>
          <a:p>
            <a:pPr marL="0" indent="0">
              <a:buNone/>
            </a:pPr>
            <a:r>
              <a:rPr lang="en-US" sz="1600" dirty="0"/>
              <a:t>UI Design </a:t>
            </a:r>
          </a:p>
          <a:p>
            <a:pPr marL="0" indent="0">
              <a:buNone/>
            </a:pPr>
            <a:r>
              <a:rPr lang="en-US" sz="1600" dirty="0"/>
              <a:t>User Manual </a:t>
            </a:r>
          </a:p>
          <a:p>
            <a:pPr marL="0" indent="0">
              <a:buNone/>
            </a:pPr>
            <a:r>
              <a:rPr lang="en-US" sz="1600" dirty="0"/>
              <a:t>Source Code CD</a:t>
            </a:r>
          </a:p>
          <a:p>
            <a:pPr marL="0" indent="0">
              <a:buNone/>
            </a:pPr>
            <a:r>
              <a:rPr lang="en-US" sz="1600" dirty="0"/>
              <a:t>Project Report - II</a:t>
            </a:r>
          </a:p>
        </p:txBody>
      </p:sp>
      <p:sp>
        <p:nvSpPr>
          <p:cNvPr id="1048672" name="Date Placeholder 5"/>
          <p:cNvSpPr>
            <a:spLocks noGrp="1"/>
          </p:cNvSpPr>
          <p:nvPr>
            <p:ph type="dt" sz="half" idx="15"/>
          </p:nvPr>
        </p:nvSpPr>
        <p:spPr>
          <a:solidFill>
            <a:srgbClr val="008000"/>
          </a:solidFill>
        </p:spPr>
        <p:txBody>
          <a:bodyPr/>
          <a:lstStyle/>
          <a:p>
            <a:r>
              <a:rPr lang="en-US">
                <a:solidFill>
                  <a:schemeClr val="bg1"/>
                </a:solidFill>
              </a:rPr>
              <a:t>CS-FYP    Hamdard University </a:t>
            </a:r>
            <a:endParaRPr lang="en-US" dirty="0">
              <a:solidFill>
                <a:schemeClr val="bg1"/>
              </a:solidFill>
            </a:endParaRPr>
          </a:p>
        </p:txBody>
      </p:sp>
      <p:sp>
        <p:nvSpPr>
          <p:cNvPr id="1048673" name="Slide Number Placeholder 6"/>
          <p:cNvSpPr>
            <a:spLocks noGrp="1"/>
          </p:cNvSpPr>
          <p:nvPr>
            <p:ph type="sldNum" sz="quarter" idx="16"/>
          </p:nvPr>
        </p:nvSpPr>
        <p:spPr/>
        <p:txBody>
          <a:bodyPr>
            <a:normAutofit fontScale="85000" lnSpcReduction="20000"/>
          </a:bodyPr>
          <a:lstStyle/>
          <a:p>
            <a:fld id="{9EBC64C3-3FC7-4C40-910B-2643F037F02C}" type="slidenum">
              <a:rPr lang="en-US" smtClean="0"/>
              <a:t>15</a:t>
            </a:fld>
            <a:endParaRPr lang="en-US" dirty="0"/>
          </a:p>
        </p:txBody>
      </p:sp>
      <p:sp>
        <p:nvSpPr>
          <p:cNvPr id="1048671" name="Footer Placeholder 3"/>
          <p:cNvSpPr>
            <a:spLocks noGrp="1"/>
          </p:cNvSpPr>
          <p:nvPr>
            <p:ph type="ftr" sz="quarter" idx="17"/>
          </p:nvPr>
        </p:nvSpPr>
        <p:spPr>
          <a:solidFill>
            <a:srgbClr val="F86308"/>
          </a:solidFill>
        </p:spPr>
        <p:txBody>
          <a:bodyPr/>
          <a:lstStyle/>
          <a:p>
            <a:pPr algn="ctr"/>
            <a:r>
              <a:rPr lang="en-US" sz="1400" dirty="0">
                <a:solidFill>
                  <a:schemeClr val="tx1"/>
                </a:solidFill>
              </a:rPr>
              <a:t>Web-Based Phishing Detection System</a:t>
            </a:r>
          </a:p>
        </p:txBody>
      </p:sp>
      <p:sp>
        <p:nvSpPr>
          <p:cNvPr id="2" name="Text Placeholder 1"/>
          <p:cNvSpPr>
            <a:spLocks noGrp="1"/>
          </p:cNvSpPr>
          <p:nvPr>
            <p:ph type="body" sz="quarter" idx="1"/>
          </p:nvPr>
        </p:nvSpPr>
        <p:spPr>
          <a:xfrm>
            <a:off x="640080" y="1752600"/>
            <a:ext cx="3886200" cy="640080"/>
          </a:xfrm>
        </p:spPr>
        <p:txBody>
          <a:bodyPr/>
          <a:lstStyle/>
          <a:p>
            <a:pPr lvl="0"/>
            <a:r>
              <a:rPr lang="en-US" dirty="0">
                <a:solidFill>
                  <a:schemeClr val="bg2">
                    <a:lumMod val="10000"/>
                  </a:schemeClr>
                </a:solidFill>
              </a:rPr>
              <a:t>FYP-I Evaluation</a:t>
            </a:r>
          </a:p>
        </p:txBody>
      </p:sp>
      <p:sp>
        <p:nvSpPr>
          <p:cNvPr id="3" name="Text Placeholder 2"/>
          <p:cNvSpPr>
            <a:spLocks noGrp="1"/>
          </p:cNvSpPr>
          <p:nvPr>
            <p:ph type="body" sz="quarter" idx="3"/>
          </p:nvPr>
        </p:nvSpPr>
        <p:spPr/>
        <p:txBody>
          <a:bodyPr/>
          <a:lstStyle/>
          <a:p>
            <a:pPr lvl="0"/>
            <a:r>
              <a:rPr lang="en-US" dirty="0">
                <a:solidFill>
                  <a:schemeClr val="bg2">
                    <a:lumMod val="10000"/>
                  </a:schemeClr>
                </a:solidFill>
              </a:rPr>
              <a:t>FYP-II Evaluation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5" name="Footer Placeholder 3"/>
          <p:cNvSpPr>
            <a:spLocks noGrp="1"/>
          </p:cNvSpPr>
          <p:nvPr>
            <p:ph type="ftr" sz="quarter" idx="11"/>
          </p:nvPr>
        </p:nvSpPr>
        <p:spPr/>
        <p:txBody>
          <a:bodyPr/>
          <a:lstStyle/>
          <a:p>
            <a:pPr algn="ctr"/>
            <a:r>
              <a:rPr lang="en-US" sz="1400" dirty="0">
                <a:solidFill>
                  <a:schemeClr val="tx1"/>
                </a:solidFill>
              </a:rPr>
              <a:t>Web-Based Phishing Detection System</a:t>
            </a:r>
          </a:p>
        </p:txBody>
      </p:sp>
      <p:sp>
        <p:nvSpPr>
          <p:cNvPr id="1048676" name="Date Placeholder 5"/>
          <p:cNvSpPr>
            <a:spLocks noGrp="1"/>
          </p:cNvSpPr>
          <p:nvPr>
            <p:ph type="dt" sz="half" idx="10"/>
          </p:nvPr>
        </p:nvSpPr>
        <p:spPr/>
        <p:txBody>
          <a:bodyPr/>
          <a:lstStyle/>
          <a:p>
            <a:r>
              <a:rPr lang="en-US" sz="1200" dirty="0"/>
              <a:t>CS-FYP    </a:t>
            </a:r>
            <a:r>
              <a:rPr lang="en-US" sz="1200" dirty="0" err="1"/>
              <a:t>Hamdard</a:t>
            </a:r>
            <a:r>
              <a:rPr lang="en-US" sz="1200" dirty="0"/>
              <a:t> University </a:t>
            </a:r>
          </a:p>
        </p:txBody>
      </p:sp>
      <p:sp>
        <p:nvSpPr>
          <p:cNvPr id="1048677" name="Slide Number Placeholder 6"/>
          <p:cNvSpPr>
            <a:spLocks noGrp="1"/>
          </p:cNvSpPr>
          <p:nvPr>
            <p:ph type="sldNum" sz="quarter" idx="12"/>
          </p:nvPr>
        </p:nvSpPr>
        <p:spPr/>
        <p:txBody>
          <a:bodyPr/>
          <a:lstStyle/>
          <a:p>
            <a:fld id="{9EBC64C3-3FC7-4C40-910B-2643F037F02C}" type="slidenum">
              <a:rPr lang="en-US" smtClean="0"/>
              <a:t>16</a:t>
            </a:fld>
            <a:endParaRPr lang="en-US" dirty="0"/>
          </a:p>
        </p:txBody>
      </p:sp>
      <p:sp>
        <p:nvSpPr>
          <p:cNvPr id="1048678" name="Google Shape;366;p25"/>
          <p:cNvSpPr txBox="1"/>
          <p:nvPr/>
        </p:nvSpPr>
        <p:spPr>
          <a:xfrm>
            <a:off x="612648" y="1600200"/>
            <a:ext cx="8153400" cy="4495800"/>
          </a:xfrm>
          <a:prstGeom prst="rect">
            <a:avLst/>
          </a:prstGeom>
          <a:noFill/>
          <a:ln>
            <a:noFill/>
          </a:ln>
        </p:spPr>
        <p:txBody>
          <a:bodyPr spcFirstLastPara="1" vert="horz" wrap="square" lIns="91425" tIns="45700" rIns="91425" bIns="45700" anchor="t" anchorCtr="0">
            <a:normAutofit/>
          </a:bodyPr>
          <a:lstStyle>
            <a:lvl1pPr marL="320040" indent="-320040" algn="l" rtl="0" eaLnBrk="1" latinLnBrk="0" hangingPunct="1">
              <a:spcBef>
                <a:spcPts val="700"/>
              </a:spcBef>
              <a:buClr>
                <a:srgbClr val="008000"/>
              </a:buClr>
              <a:buSzPct val="60000"/>
              <a:buFont typeface="Wingdings"/>
              <a:buChar char=""/>
              <a:defRPr kumimoji="0" sz="2900" kern="1200">
                <a:solidFill>
                  <a:schemeClr val="tx1"/>
                </a:solidFill>
                <a:latin typeface="Calibri" pitchFamily="34" charset="0"/>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Calibri" pitchFamily="34" charset="0"/>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Calibri" pitchFamily="34" charset="0"/>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Calibri" pitchFamily="34" charset="0"/>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Calibri" pitchFamily="34" charset="0"/>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365760" lvl="1" indent="0">
              <a:spcBef>
                <a:spcPts val="0"/>
              </a:spcBef>
              <a:buSzPts val="6720"/>
              <a:buFont typeface="Wingdings 2"/>
              <a:buNone/>
            </a:pPr>
            <a:endParaRPr lang="en-US" sz="9600" dirty="0"/>
          </a:p>
          <a:p>
            <a:pPr marL="365760" lvl="1" indent="0" algn="ctr">
              <a:buSzPts val="6720"/>
              <a:buFont typeface="Wingdings 2"/>
              <a:buNone/>
            </a:pPr>
            <a:r>
              <a:rPr lang="en-US" sz="4800" dirty="0"/>
              <a:t>THANK YOU!</a:t>
            </a:r>
            <a:endParaRPr lang="en-US" sz="1100"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1541</TotalTime>
  <Words>1679</Words>
  <Application>Microsoft Office PowerPoint</Application>
  <PresentationFormat>On-screen Show (4:3)</PresentationFormat>
  <Paragraphs>317</Paragraphs>
  <Slides>16</Slides>
  <Notes>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16</vt:i4>
      </vt:variant>
    </vt:vector>
  </HeadingPairs>
  <TitlesOfParts>
    <vt:vector size="28" baseType="lpstr">
      <vt:lpstr>Aptos Display</vt:lpstr>
      <vt:lpstr>Arial</vt:lpstr>
      <vt:lpstr>Arial Nova Cond</vt:lpstr>
      <vt:lpstr>Calibri</vt:lpstr>
      <vt:lpstr>Courier New</vt:lpstr>
      <vt:lpstr>Times New Roman</vt:lpstr>
      <vt:lpstr>Tw Cen MT</vt:lpstr>
      <vt:lpstr>Twentieth Century</vt:lpstr>
      <vt:lpstr>Wingdings</vt:lpstr>
      <vt:lpstr>Wingdings 2</vt:lpstr>
      <vt:lpstr>Median</vt:lpstr>
      <vt:lpstr>Custom Design</vt:lpstr>
      <vt:lpstr>PowerPoint Presentation</vt:lpstr>
      <vt:lpstr>Outline</vt:lpstr>
      <vt:lpstr>Group Introduction </vt:lpstr>
      <vt:lpstr>Problem Statement</vt:lpstr>
      <vt:lpstr>Project Objectives</vt:lpstr>
      <vt:lpstr>Project Scope</vt:lpstr>
      <vt:lpstr>Comprehensive Literature Review</vt:lpstr>
      <vt:lpstr>Architecture Big Picture</vt:lpstr>
      <vt:lpstr>Project Methodology </vt:lpstr>
      <vt:lpstr>Project Role &amp; Responsibilities </vt:lpstr>
      <vt:lpstr>Project Milestones</vt:lpstr>
      <vt:lpstr>Project Plan</vt:lpstr>
      <vt:lpstr>Project Budgeting</vt:lpstr>
      <vt:lpstr>Project Tools </vt:lpstr>
      <vt:lpstr>8- Project Deliverables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Asad Ur Rehman</dc:creator>
  <cp:lastModifiedBy>Zaid Alam Shah</cp:lastModifiedBy>
  <cp:revision>81</cp:revision>
  <dcterms:created xsi:type="dcterms:W3CDTF">2015-09-21T23:32:20Z</dcterms:created>
  <dcterms:modified xsi:type="dcterms:W3CDTF">2025-07-20T18:00:03Z</dcterms:modified>
</cp:coreProperties>
</file>